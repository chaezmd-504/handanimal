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1A1A1A"/>
                </a:solidFill>
              </a:rPr>
              <a:t>HandAnimal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200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888888"/>
                </a:solidFill>
              </a:rPr>
              <a:t>주차별 진행 보고  ·  2026-06-05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3063240"/>
            <a:ext cx="11091672" cy="0"/>
          </a:xfrm>
          <a:prstGeom prst="line">
            <a:avLst/>
          </a:prstGeom>
          <a:ln w="9525">
            <a:solidFill>
              <a:srgbClr val="2D6A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</a:rPr>
              <a:t>Locomotion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1">
                <a:solidFill>
                  <a:srgbClr val="888888"/>
                </a:solidFill>
              </a:rPr>
              <a:t>손으로 동물을 직접 이동시키다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417320"/>
            <a:ext cx="11091672" cy="0"/>
          </a:xfrm>
          <a:prstGeom prst="line">
            <a:avLst/>
          </a:prstGeom>
          <a:ln w="9525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31520" y="164592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>
                <a:solidFill>
                  <a:srgbClr val="1A1A1A"/>
                </a:solidFill>
              </a:rPr>
              <a:t>• 방향 제어 — 오른손 손목 좌우 기울기 → yaw 회전</a:t>
            </a:r>
          </a:p>
          <a:p>
            <a:pPr algn="l"/>
            <a:r>
              <a:rPr sz="2000">
                <a:solidFill>
                  <a:srgbClr val="1A1A1A"/>
                </a:solidFill>
              </a:rPr>
              <a:t>• 속도 계산 — 손 포즈가 Walk 기준 포즈에 가까울수록 speed 증가</a:t>
            </a:r>
          </a:p>
          <a:p>
            <a:pPr algn="l"/>
            <a:r>
              <a:rPr sz="2000">
                <a:solidFill>
                  <a:srgbClr val="1A1A1A"/>
                </a:solidFill>
              </a:rPr>
              <a:t>• Head Direction — 얼굴이 향하는 방향으로 이동 방향 제어</a:t>
            </a:r>
          </a:p>
          <a:p>
            <a:pPr algn="l"/>
            <a:r>
              <a:rPr sz="2000">
                <a:solidFill>
                  <a:srgbClr val="1A1A1A"/>
                </a:solidFill>
              </a:rPr>
              <a:t>• Walk 애니메이션 — 이동 중 자동 재생 / 정지 시 멈춤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760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888888"/>
                </a:solidFill>
              </a:rPr>
              <a:t>[ 다이어그램: 손목→yaw / Walk 포즈→speed 흐름도 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</a:rPr>
              <a:t>Trigger 시스템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1">
                <a:solidFill>
                  <a:srgbClr val="888888"/>
                </a:solidFill>
              </a:rPr>
              <a:t>특정 동작으로 애니메이션 발동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417320"/>
            <a:ext cx="11091672" cy="0"/>
          </a:xfrm>
          <a:prstGeom prst="line">
            <a:avLst/>
          </a:prstGeom>
          <a:ln w="9525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31520" y="164592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>
                <a:solidFill>
                  <a:srgbClr val="1A1A1A"/>
                </a:solidFill>
              </a:rPr>
              <a:t>• Snap — 손가락이 빠르게 구부러지는 순간 즉시 발동 (확! 동작)</a:t>
            </a:r>
          </a:p>
          <a:p>
            <a:pPr algn="l"/>
            <a:r>
              <a:rPr sz="2000">
                <a:solidFill>
                  <a:srgbClr val="1A1A1A"/>
                </a:solidFill>
              </a:rPr>
              <a:t>• Hold — 일정 각도 이상 3프레임 유지 시 발동</a:t>
            </a:r>
          </a:p>
          <a:p>
            <a:pPr algn="l"/>
            <a:r>
              <a:rPr sz="2000">
                <a:solidFill>
                  <a:srgbClr val="1A1A1A"/>
                </a:solidFill>
              </a:rPr>
              <a:t>• Unity Animator 직접 연동 → 실제 클립 재생 (keyframe 방식 대체)</a:t>
            </a:r>
          </a:p>
          <a:p>
            <a:pPr algn="l"/>
            <a:r>
              <a:rPr sz="2000">
                <a:solidFill>
                  <a:srgbClr val="1A1A1A"/>
                </a:solidFill>
              </a:rPr>
              <a:t>• 재생 중 손 입력도 blend 비율로 반영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760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888888"/>
                </a:solidFill>
              </a:rPr>
              <a:t>[ 영상: Attack1/2 발동 장면 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</a:rPr>
              <a:t>현재 상태 데모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1">
                <a:solidFill>
                  <a:srgbClr val="888888"/>
                </a:solidFill>
              </a:rPr>
              <a:t>Spider 통합 동작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417320"/>
            <a:ext cx="11091672" cy="0"/>
          </a:xfrm>
          <a:prstGeom prst="line">
            <a:avLst/>
          </a:prstGeom>
          <a:ln w="9525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31520" y="164592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>
                <a:solidFill>
                  <a:srgbClr val="1A1A1A"/>
                </a:solidFill>
              </a:rPr>
              <a:t>• 손 감지 → 다리 매핑 → Walk 이동 → 공격 트리거</a:t>
            </a:r>
          </a:p>
          <a:p>
            <a:pPr algn="l"/>
            <a:r>
              <a:rPr sz="2000">
                <a:solidFill>
                  <a:srgbClr val="1A1A1A"/>
                </a:solidFill>
              </a:rPr>
              <a:t>• 얼굴 방향으로 이동 방향 전환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2743200"/>
            <a:ext cx="9418320" cy="3474720"/>
          </a:xfrm>
          <a:prstGeom prst="rect">
            <a:avLst/>
          </a:prstGeom>
          <a:noFill/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i="1">
                <a:solidFill>
                  <a:srgbClr val="888888"/>
                </a:solidFill>
              </a:rPr>
              <a:t>[ 영상 삽입 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</a:rPr>
              <a:t>다음 단계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1051560"/>
            <a:ext cx="11091672" cy="0"/>
          </a:xfrm>
          <a:prstGeom prst="line">
            <a:avLst/>
          </a:prstGeom>
          <a:ln w="9525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31520" y="13716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>
                <a:solidFill>
                  <a:srgbClr val="1A1A1A"/>
                </a:solidFill>
              </a:rPr>
              <a:t>• Horse 세팅 및 테스트</a:t>
            </a:r>
          </a:p>
          <a:p>
            <a:pPr algn="l" lvl="1"/>
            <a:r>
              <a:rPr sz="2000">
                <a:solidFill>
                  <a:srgbClr val="888888"/>
                </a:solidFill>
              </a:rPr>
              <a:t>    - 왼손 4손가락 = 앞뒤 4다리</a:t>
            </a:r>
          </a:p>
          <a:p>
            <a:pPr algn="l" lvl="1"/>
            <a:r>
              <a:rPr sz="2000">
                <a:solidFill>
                  <a:srgbClr val="888888"/>
                </a:solidFill>
              </a:rPr>
              <a:t>    - 오른손 손목 = 머리 / 목</a:t>
            </a:r>
          </a:p>
          <a:p>
            <a:pPr algn="l"/>
            <a:r>
              <a:rPr sz="2200">
                <a:solidFill>
                  <a:srgbClr val="1A1A1A"/>
                </a:solidFill>
              </a:rPr>
              <a:t>• 매핑 품질 개선</a:t>
            </a:r>
          </a:p>
          <a:p>
            <a:pPr algn="l" lvl="1"/>
            <a:r>
              <a:rPr sz="2000">
                <a:solidFill>
                  <a:srgbClr val="888888"/>
                </a:solidFill>
              </a:rPr>
              <a:t>    - 알고리즘 손가락 분리 제약 추가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