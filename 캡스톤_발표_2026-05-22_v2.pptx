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0" y="-457200"/>
            <a:ext cx="4572000" cy="4572000"/>
          </a:xfrm>
          <a:prstGeom prst="rect">
            <a:avLst/>
          </a:prstGeom>
          <a:solidFill>
            <a:srgbClr val="1A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8899BB"/>
                </a:solidFill>
              </a:rPr>
              <a:t>캡스톤 디자인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78308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HandAnimal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CCDDFF"/>
                </a:solidFill>
              </a:rPr>
              <a:t>손 동작으로 제어하는 실시간 동물 아바타 시스템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611880"/>
            <a:ext cx="5029200" cy="45720"/>
          </a:xfrm>
          <a:prstGeom prst="rect">
            <a:avLst/>
          </a:prstGeom>
          <a:solidFill>
            <a:srgbClr val="4F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794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8899BB"/>
                </a:solidFill>
              </a:rPr>
              <a:t>2026년 5월 22일  |  중간 발표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97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77AA"/>
                </a:solidFill>
              </a:rPr>
              <a:t>Python  ·  Unity  ·  MediaPipe  ·  WebSocket  ·  ILP Mapping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F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시스템 전체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05840"/>
            <a:ext cx="11548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38D9A9"/>
                </a:solidFill>
              </a:rPr>
              <a:t>손가락 관절 각도를 실시간으로 동물 관절 회전에 매핑하는 시스템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08760"/>
            <a:ext cx="1783080" cy="141732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1783080" cy="64008"/>
          </a:xfrm>
          <a:prstGeom prst="rect">
            <a:avLst/>
          </a:prstGeom>
          <a:solidFill>
            <a:srgbClr val="4F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7276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A3FF"/>
                </a:solidFill>
              </a:rPr>
              <a:t>웹캠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5740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영상 입력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75688" y="19202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899BB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1508760"/>
            <a:ext cx="1783080" cy="141732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94560" y="1508760"/>
            <a:ext cx="1783080" cy="64008"/>
          </a:xfrm>
          <a:prstGeom prst="rect">
            <a:avLst/>
          </a:prstGeom>
          <a:solidFill>
            <a:srgbClr val="4F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157276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A3FF"/>
                </a:solidFill>
              </a:rPr>
              <a:t>MediaPipe Hands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05740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손 관절 21개
좌표 추출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95928" y="19202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899BB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1508760"/>
            <a:ext cx="1783080" cy="141732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0" y="1508760"/>
            <a:ext cx="1783080" cy="64008"/>
          </a:xfrm>
          <a:prstGeom prst="rect">
            <a:avLst/>
          </a:prstGeom>
          <a:solidFill>
            <a:srgbClr val="38D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157276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D9A9"/>
                </a:solidFill>
              </a:rPr>
              <a:t>각도 계산
(Python)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205740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MCP/PIP/DIP
굽힘각 산출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16168" y="19202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899BB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1508760"/>
            <a:ext cx="1783080" cy="141732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35040" y="1508760"/>
            <a:ext cx="1783080" cy="64008"/>
          </a:xfrm>
          <a:prstGeom prst="rect">
            <a:avLst/>
          </a:prstGeom>
          <a:solidFill>
            <a:srgbClr val="38D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157276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D9A9"/>
                </a:solidFill>
              </a:rPr>
              <a:t>MappingEngine
(Python)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05740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ILP 기반
손→동물 변환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6408" y="19202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899BB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79" y="1508760"/>
            <a:ext cx="1783080" cy="141732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55279" y="1508760"/>
            <a:ext cx="1783080" cy="64008"/>
          </a:xfrm>
          <a:prstGeom prst="rect">
            <a:avLst/>
          </a:prstGeom>
          <a:solidFill>
            <a:srgbClr val="A0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19" y="157276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07CFF"/>
                </a:solidFill>
              </a:rPr>
              <a:t>WebSocket
서버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19" y="205740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JSON 직렬화
전송 &lt;30ms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6647" y="19202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899BB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75520" y="1508760"/>
            <a:ext cx="1783080" cy="141732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875520" y="1508760"/>
            <a:ext cx="1783080" cy="64008"/>
          </a:xfrm>
          <a:prstGeom prst="rect">
            <a:avLst/>
          </a:prstGeom>
          <a:solidFill>
            <a:srgbClr val="FFD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6960" y="157276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45A"/>
                </a:solidFill>
              </a:rPr>
              <a:t>AnimalController
(Unity)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205740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FK 관절 회전
적용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3017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899BB"/>
                </a:solidFill>
              </a:rPr>
              <a:t>← 실시간 파이프라인 (&lt; 30 ms) 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401568"/>
            <a:ext cx="11548872" cy="18288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35204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899BB"/>
                </a:solidFill>
              </a:rPr>
              <a:t>오프라인 사전 준비 (동물 교체 시에만 재실행)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931920"/>
            <a:ext cx="2743200" cy="128016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" y="3931920"/>
            <a:ext cx="2743200" cy="54864"/>
          </a:xfrm>
          <a:prstGeom prst="rect">
            <a:avLst/>
          </a:prstGeom>
          <a:solidFill>
            <a:srgbClr val="88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3986784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99BB"/>
                </a:solidFill>
              </a:rPr>
              <a:t>AnimPoseExporter
(Unity Editor)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448056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7799"/>
                </a:solidFill>
              </a:rPr>
              <a:t>클립 샘플링
→ ROM/포즈 DB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35808" y="4389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899BB"/>
                </a:solidFill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54680" y="3931920"/>
            <a:ext cx="2743200" cy="128016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154680" y="3931920"/>
            <a:ext cx="2743200" cy="54864"/>
          </a:xfrm>
          <a:prstGeom prst="rect">
            <a:avLst/>
          </a:prstGeom>
          <a:solidFill>
            <a:srgbClr val="88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46120" y="3986784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99BB"/>
                </a:solidFill>
              </a:rPr>
              <a:t>auto_chains.py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46120" y="448056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7799"/>
                </a:solidFill>
              </a:rPr>
              <a:t>체인 자동 구성
MCP→PIP→DIP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16168" y="4389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899BB"/>
                </a:solidFill>
              </a:rPr>
              <a:t>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35040" y="3931920"/>
            <a:ext cx="2743200" cy="128016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035040" y="3931920"/>
            <a:ext cx="2743200" cy="54864"/>
          </a:xfrm>
          <a:prstGeom prst="rect">
            <a:avLst/>
          </a:prstGeom>
          <a:solidFill>
            <a:srgbClr val="88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26480" y="3986784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99BB"/>
                </a:solidFill>
              </a:rPr>
              <a:t>generate_mappings.py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6480" y="448056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7799"/>
                </a:solidFill>
              </a:rPr>
              <a:t>ILP 최적화
매핑 생성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96528" y="4389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899BB"/>
                </a:solidFill>
              </a:rPr>
              <a:t>→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15400" y="3931920"/>
            <a:ext cx="2743200" cy="128016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915400" y="3931920"/>
            <a:ext cx="2743200" cy="54864"/>
          </a:xfrm>
          <a:prstGeom prst="rect">
            <a:avLst/>
          </a:prstGeom>
          <a:solidFill>
            <a:srgbClr val="88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06840" y="3986784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99BB"/>
                </a:solidFill>
              </a:rPr>
              <a:t>spider_mapping.json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06840" y="448056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7799"/>
                </a:solidFill>
              </a:rPr>
              <a:t>매핑 결과
파일 저장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F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핵심 문제 — 동물 관절의 움직임 범위(ROM)를 어떻게 얻나?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05840"/>
            <a:ext cx="11548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FF"/>
                </a:solidFill>
              </a:rPr>
              <a:t>매핑 품질은 각 관절이 얼마나 움직일 수 있는지(ROM)에 달려 있음. ROM이 부정확하면 → 과소/과대 반응, 좌우 불균형 발생.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554480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FA3FF"/>
                </a:solidFill>
              </a:rPr>
              <a:t>처음 시도한 방법 — FBX/AnimationClip 자동 추출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920240"/>
            <a:ext cx="11548872" cy="86868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920240"/>
            <a:ext cx="11548872" cy="54864"/>
          </a:xfrm>
          <a:prstGeom prst="rect">
            <a:avLst/>
          </a:prstGeom>
          <a:solidFill>
            <a:srgbClr val="4F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29968"/>
            <a:ext cx="11274552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▸  Unity AnimationClip의 keyframe 값을 프레임별로 샘플링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▸  샘플링된 최솟값~최댓값을 ROM으로 자동 설정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880360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6B6B"/>
                </a:solidFill>
              </a:rPr>
              <a:t>왜 실패했나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291840"/>
            <a:ext cx="3794760" cy="118872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3291840"/>
            <a:ext cx="379476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3346704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6B"/>
                </a:solidFill>
              </a:rPr>
              <a:t>클립 커버리지 부족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370332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</a:rPr>
              <a:t>애니메이션 클립이 관절의 실제 가동 범위를 전부 사용하지 않음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9392" y="3291840"/>
            <a:ext cx="3794760" cy="118872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3291840"/>
            <a:ext cx="3794760" cy="54864"/>
          </a:xfrm>
          <a:prstGeom prst="rect">
            <a:avLst/>
          </a:prstGeom>
          <a:solidFill>
            <a:srgbClr val="FFD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3346704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45A"/>
                </a:solidFill>
              </a:rPr>
              <a:t>클립마다 주 축이 다름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70332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</a:rPr>
              <a:t>Walk는 Y축 회전, Attack은 X축 회전 → 단일 axis 가정 붕괴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38744" y="3291840"/>
            <a:ext cx="3794760" cy="118872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38744" y="3291840"/>
            <a:ext cx="3794760" cy="54864"/>
          </a:xfrm>
          <a:prstGeom prst="rect">
            <a:avLst/>
          </a:prstGeom>
          <a:solidFill>
            <a:srgbClr val="FFD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8472" y="3346704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45A"/>
                </a:solidFill>
              </a:rPr>
              <a:t>좌우 ROM 비대칭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2" y="370332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</a:rPr>
              <a:t>r_leg_002: 클립 내 ROM 31° vs 실제 가동범위 ~114°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4572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45A"/>
                </a:solidFill>
              </a:rPr>
              <a:t>실제 증상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919472"/>
            <a:ext cx="6858000" cy="109728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010912"/>
            <a:ext cx="6583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7EE787"/>
                </a:solidFill>
                <a:latin typeface="Consolas"/>
              </a:rPr>
              <a:t>l_leg_002  scale_factor = 1.27   (클립 ROM 114°)</a:t>
            </a:r>
          </a:p>
          <a:p>
            <a:pPr algn="l"/>
            <a:r>
              <a:rPr sz="1200">
                <a:solidFill>
                  <a:srgbClr val="7EE787"/>
                </a:solidFill>
                <a:latin typeface="Consolas"/>
              </a:rPr>
              <a:t>r_leg_002  scale_factor = 0.35   (클립 ROM  31°)</a:t>
            </a:r>
          </a:p>
          <a:p>
            <a:pPr algn="l"/>
            <a:r>
              <a:rPr sz="1200">
                <a:solidFill>
                  <a:srgbClr val="7EE787"/>
                </a:solidFill>
                <a:latin typeface="Consolas"/>
              </a:rPr>
              <a:t>→ 같은 손가락 굽힘인데 왼쪽 다리가 3.6배 더 많이 움직임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79" y="4572000"/>
            <a:ext cx="4370832" cy="146304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98079" y="4572000"/>
            <a:ext cx="64008" cy="1463040"/>
          </a:xfrm>
          <a:prstGeom prst="rect">
            <a:avLst/>
          </a:prstGeom>
          <a:solidFill>
            <a:srgbClr val="38D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0" y="46177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D9A9"/>
                </a:solidFill>
              </a:rPr>
              <a:t>결론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956048"/>
            <a:ext cx="4023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자동 추출만으로는 ROM 신뢰 불가
→ 사람 검수 단계가 파이프라인에 필수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F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해결 방법 — 반자동 파이프라인 + 사람 검수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05840"/>
            <a:ext cx="64008" cy="1005840"/>
          </a:xfrm>
          <a:prstGeom prst="rect">
            <a:avLst/>
          </a:prstGeom>
          <a:solidFill>
            <a:srgbClr val="4F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384280" cy="100584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6070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FA3FF"/>
                </a:solidFill>
              </a:rPr>
              <a:t>① AnimPoseExporter (Unity Editor)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08176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</a:rPr>
              <a:t>모든 AnimationClip을 N프레임 간격으로 샘플링. 각 포즈에 {_anim, _frame, joint: {x,y,z}} 형태로 저장.
출력: spider.json (ROM), bone_map_spider.json (축 정보), spider_poses.json (포즈 DB)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121408"/>
            <a:ext cx="64008" cy="1005840"/>
          </a:xfrm>
          <a:prstGeom prst="rect">
            <a:avLst/>
          </a:prstGeom>
          <a:solidFill>
            <a:srgbClr val="38D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21408"/>
            <a:ext cx="11384280" cy="100584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762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D9A9"/>
                </a:solidFill>
              </a:rPr>
              <a:t>② auto_chains.py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23744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</a:rPr>
              <a:t>skeleton에서 관절 부모-자식 관계 분석 → MCP→PIP→DIP 체인 자동 구성.
출력: spider.json에 chains 필드 추가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236976"/>
            <a:ext cx="64008" cy="1005840"/>
          </a:xfrm>
          <a:prstGeom prst="rect">
            <a:avLst/>
          </a:prstGeom>
          <a:solidFill>
            <a:srgbClr val="A0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236976"/>
            <a:ext cx="11384280" cy="100584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2918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07CFF"/>
                </a:solidFill>
              </a:rPr>
              <a:t>③ generate_mappings.py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63931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</a:rPr>
              <a:t>ILP 최적화로 손↔동물 관절 대응 계산. 1000개 자연 손 포즈 샘플 사용.
출력: spider_mapping.json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352544"/>
            <a:ext cx="64008" cy="1005840"/>
          </a:xfrm>
          <a:prstGeom prst="rect">
            <a:avLst/>
          </a:prstGeom>
          <a:solidFill>
            <a:srgbClr val="FFD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352544"/>
            <a:ext cx="11384280" cy="100584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4074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45A"/>
                </a:solidFill>
              </a:rPr>
              <a:t>④ ModelReviewWindow (Unity Editor)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754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</a:rPr>
              <a:t>관절 좌/우 자동 감지 + 수동 수정. Include 체크박스로 특정 관절 제외.
변경사항 → side_override.json / finger_override.json 저장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468112"/>
            <a:ext cx="64008" cy="1005840"/>
          </a:xfrm>
          <a:prstGeom prst="rect">
            <a:avLst/>
          </a:prstGeom>
          <a:solidFill>
            <a:srgbClr val="4F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468112"/>
            <a:ext cx="11384280" cy="100584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52297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FA3FF"/>
                </a:solidFill>
              </a:rPr>
              <a:t>⑤ AnimalControllerEditor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87044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</a:rPr>
              <a:t>mapping.json 기반으로 필요한 관절만 JointEntry 자동 생성.
기존 38개 전체 → 매핑된 24개만 생성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6537960"/>
            <a:ext cx="11548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99BB"/>
                </a:solidFill>
              </a:rPr>
              <a:t>메타데이터 예시: {"_anim": "Walk", "_frame": 3, "l_leg": {"x":0, "y":-10.5, "z":0}, ...}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F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매핑 알고리즘 (1) — 손 관절을 동물 관절에 어떻게 대응시키나?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05840"/>
            <a:ext cx="3794760" cy="169164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3794760" cy="54864"/>
          </a:xfrm>
          <a:prstGeom prst="rect">
            <a:avLst/>
          </a:prstGeom>
          <a:solidFill>
            <a:srgbClr val="4F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6070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A3FF"/>
                </a:solidFill>
              </a:rPr>
              <a:t>입력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3474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양손 × 5손가락 × 3마디
= 최대 30개 scalar
(MCP / PIP / DIP 굽힘각)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005840"/>
            <a:ext cx="3794760" cy="169164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005840"/>
            <a:ext cx="3794760" cy="54864"/>
          </a:xfrm>
          <a:prstGeom prst="rect">
            <a:avLst/>
          </a:prstGeom>
          <a:solidFill>
            <a:srgbClr val="38D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06070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D9A9"/>
                </a:solidFill>
              </a:rPr>
              <a:t>출력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389888"/>
            <a:ext cx="3474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동물 관절 N개의 회전값
Spider: 24개
(왼쪽 12 + 오른쪽 12)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49640" y="1005840"/>
            <a:ext cx="3291840" cy="169164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49640" y="1005840"/>
            <a:ext cx="64008" cy="1691640"/>
          </a:xfrm>
          <a:prstGeom prst="rect">
            <a:avLst/>
          </a:prstGeom>
          <a:solidFill>
            <a:srgbClr val="FFD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32520" y="106070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45A"/>
                </a:solidFill>
              </a:rPr>
              <a:t>핵심 난제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1389888"/>
            <a:ext cx="2926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손가락 5개로 다리 8개 제어
→ 어떤 손가락이 어떤 다리에
  가장 잘 맞는가?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2834640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FA3FF"/>
                </a:solidFill>
              </a:rPr>
              <a:t>Bilateral 구조로 해결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200400"/>
            <a:ext cx="11548872" cy="123444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291840"/>
            <a:ext cx="11274552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7EE787"/>
                </a:solidFill>
                <a:latin typeface="Consolas"/>
              </a:rPr>
              <a:t>왼손  →  왼쪽 다리 4개 체인  (l_leg, l_leg_001, l_leg_002, l_leg_003)</a:t>
            </a:r>
          </a:p>
          <a:p>
            <a:pPr algn="l"/>
            <a:r>
              <a:rPr sz="1200">
                <a:solidFill>
                  <a:srgbClr val="7EE787"/>
                </a:solidFill>
                <a:latin typeface="Consolas"/>
              </a:rPr>
              <a:t>오른손 →  오른쪽 다리 4개 체인  (r_leg, r_leg_001, r_leg_002, r_leg_003)</a:t>
            </a:r>
          </a:p>
          <a:p>
            <a:pPr algn="l"/>
            <a:r>
              <a:rPr sz="1200">
                <a:solidFill>
                  <a:srgbClr val="7EE787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7EE787"/>
                </a:solidFill>
                <a:latin typeface="Consolas"/>
              </a:rPr>
              <a:t>손가락 1개 (MCP→PIP→DIP)  :  다리 1개 (MCP→PIP→DIP)  =  1:1 체인 대응</a:t>
            </a:r>
          </a:p>
          <a:p>
            <a:pPr algn="l"/>
            <a:r>
              <a:rPr sz="1200">
                <a:solidFill>
                  <a:srgbClr val="7EE787"/>
                </a:solidFill>
                <a:latin typeface="Consolas"/>
              </a:rPr>
              <a:t>나머지 DoF는 reference_pose로 고정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544568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8D9A9"/>
                </a:solidFill>
              </a:rPr>
              <a:t>ILP (정수 계획법) 최적화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910328"/>
            <a:ext cx="11548872" cy="169164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4910328"/>
            <a:ext cx="11548872" cy="54864"/>
          </a:xfrm>
          <a:prstGeom prst="rect">
            <a:avLst/>
          </a:prstGeom>
          <a:solidFill>
            <a:srgbClr val="38D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020056"/>
            <a:ext cx="11274552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▸  결정 변수: 어떤 손가락 → 어떤 다리,  scale_factor (방향·크기)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▸  목적함수: Q_score = 손 포즈 분포와 동물 포즈 분포의 유사도 최대화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▸  reference_pose_A/B: 1000개 자연 손 포즈 × 140개 동물 포즈 = 140,000쌍 순회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▸  탐색 결과 → spider_mapping.json 으로 저장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F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매핑 알고리즘 (2) — Chain 제약과 다축 회전 지원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058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FA3FF"/>
                </a:solidFill>
              </a:rPr>
              <a:t>Chain 제약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389888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손가락은 MCP가 굽혀질 때 PIP·DIP도 같은 방향으로 굽힘
→ 제약 없으면 MCP는 앞, PIP는 뒤로 가는 비현실적 해 선택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075688"/>
            <a:ext cx="5760720" cy="169164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67128"/>
            <a:ext cx="548640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7EE787"/>
                </a:solidFill>
                <a:latin typeface="Consolas"/>
              </a:rPr>
              <a:t># ILP 제약</a:t>
            </a:r>
          </a:p>
          <a:p>
            <a:pPr algn="l"/>
            <a:r>
              <a:rPr sz="1200">
                <a:solidFill>
                  <a:srgbClr val="7EE787"/>
                </a:solidFill>
                <a:latin typeface="Consolas"/>
              </a:rPr>
              <a:t>scale(MCP) × scale(PIP) &gt; 0  →  같은 부호(방향)여야 함</a:t>
            </a:r>
          </a:p>
          <a:p>
            <a:pPr algn="l"/>
            <a:r>
              <a:rPr sz="1200">
                <a:solidFill>
                  <a:srgbClr val="7EE787"/>
                </a:solidFill>
                <a:latin typeface="Consolas"/>
              </a:rPr>
              <a:t>scale(PIP) × scale(DIP) &gt; 0</a:t>
            </a:r>
          </a:p>
          <a:p>
            <a:pPr algn="l"/>
            <a:r>
              <a:rPr sz="1200">
                <a:solidFill>
                  <a:srgbClr val="7EE787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7EE787"/>
                </a:solidFill>
                <a:latin typeface="Consolas"/>
              </a:rPr>
              <a:t># 체인 순서 강제 (auto_chains.py 출력)</a:t>
            </a:r>
          </a:p>
          <a:p>
            <a:pPr algn="l"/>
            <a:r>
              <a:rPr sz="1200">
                <a:solidFill>
                  <a:srgbClr val="7EE787"/>
                </a:solidFill>
                <a:latin typeface="Consolas"/>
              </a:rPr>
              <a:t>l_leg  →  l_bone_012  →  l_bone_013</a:t>
            </a:r>
          </a:p>
          <a:p>
            <a:pPr algn="l"/>
            <a:r>
              <a:rPr sz="1200">
                <a:solidFill>
                  <a:srgbClr val="7EE787"/>
                </a:solidFill>
                <a:latin typeface="Consolas"/>
              </a:rPr>
              <a:t>(MCP)       (PIP)           (DIP)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0058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45A"/>
                </a:solidFill>
              </a:rPr>
              <a:t>다축 회전 지원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89888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Walk 클립: l_leg → Y축 회전   /   Attack 클립: l_leg → X축 회전
→ 단일 float 저장 시 한 축만 기록됨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075688"/>
            <a:ext cx="5577840" cy="132588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167128"/>
            <a:ext cx="53035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7EE787"/>
                </a:solidFill>
                <a:latin typeface="Consolas"/>
              </a:rPr>
              <a:t># 기존 — float, 단일 축</a:t>
            </a:r>
          </a:p>
          <a:p>
            <a:pPr algn="l"/>
            <a:r>
              <a:rPr sz="1200">
                <a:solidFill>
                  <a:srgbClr val="7EE787"/>
                </a:solidFill>
                <a:latin typeface="Consolas"/>
              </a:rPr>
              <a:t>pose[jid] = round(angle, 2)</a:t>
            </a:r>
          </a:p>
          <a:p>
            <a:pPr algn="l"/>
            <a:r>
              <a:rPr sz="1200">
                <a:solidFill>
                  <a:srgbClr val="7EE787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7EE787"/>
                </a:solidFill>
                <a:latin typeface="Consolas"/>
              </a:rPr>
              <a:t># 변경 — 3축 모두 보존</a:t>
            </a:r>
          </a:p>
          <a:p>
            <a:pPr algn="l"/>
            <a:r>
              <a:rPr sz="1200">
                <a:solidFill>
                  <a:srgbClr val="7EE787"/>
                </a:solidFill>
                <a:latin typeface="Consolas"/>
              </a:rPr>
              <a:t>pose[jid] = {"x": ax, "y": ay, "z": az}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858768"/>
            <a:ext cx="11548872" cy="18288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397763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D9A9"/>
                </a:solidFill>
              </a:rPr>
              <a:t>_blend() — 축별 독립 블렌딩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25112"/>
            <a:ext cx="5303520" cy="123444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416552"/>
            <a:ext cx="50292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7EE787"/>
                </a:solidFill>
                <a:latin typeface="Consolas"/>
              </a:rPr>
              <a:t>bx += w * pose[jid]['x']</a:t>
            </a:r>
          </a:p>
          <a:p>
            <a:pPr algn="l"/>
            <a:r>
              <a:rPr sz="1200">
                <a:solidFill>
                  <a:srgbClr val="7EE787"/>
                </a:solidFill>
                <a:latin typeface="Consolas"/>
              </a:rPr>
              <a:t>by += w * pose[jid]['y']</a:t>
            </a:r>
          </a:p>
          <a:p>
            <a:pPr algn="l"/>
            <a:r>
              <a:rPr sz="1200">
                <a:solidFill>
                  <a:srgbClr val="7EE787"/>
                </a:solidFill>
                <a:latin typeface="Consolas"/>
              </a:rPr>
              <a:t>bz += w * pose[jid]['z']</a:t>
            </a:r>
          </a:p>
          <a:p>
            <a:pPr algn="l"/>
            <a:r>
              <a:rPr sz="1200">
                <a:solidFill>
                  <a:srgbClr val="7EE787"/>
                </a:solidFill>
                <a:latin typeface="Consolas"/>
              </a:rPr>
              <a:t>result[jid] = {"x":bx, "y":by, "z":bz}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977639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D9A9"/>
                </a:solidFill>
              </a:rPr>
              <a:t>Unity 연동 변경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325112"/>
            <a:ext cx="5925312" cy="214884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0760" y="4416552"/>
            <a:ext cx="5650992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7EE787"/>
                </a:solidFill>
                <a:latin typeface="Consolas"/>
              </a:rPr>
              <a:t>// 기존</a:t>
            </a:r>
          </a:p>
          <a:p>
            <a:pPr algn="l"/>
            <a:r>
              <a:rPr sz="1200">
                <a:solidFill>
                  <a:srgbClr val="7EE787"/>
                </a:solidFill>
                <a:latin typeface="Consolas"/>
              </a:rPr>
              <a:t>Dictionary&lt;string, float&gt; joints</a:t>
            </a:r>
          </a:p>
          <a:p>
            <a:pPr algn="l"/>
            <a:r>
              <a:rPr sz="1200">
                <a:solidFill>
                  <a:srgbClr val="7EE787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7EE787"/>
                </a:solidFill>
                <a:latin typeface="Consolas"/>
              </a:rPr>
              <a:t>// 변경</a:t>
            </a:r>
          </a:p>
          <a:p>
            <a:pPr algn="l"/>
            <a:r>
              <a:rPr sz="1200">
                <a:solidFill>
                  <a:srgbClr val="7EE787"/>
                </a:solidFill>
                <a:latin typeface="Consolas"/>
              </a:rPr>
              <a:t>class JointRotation { float x, y, z; }</a:t>
            </a:r>
          </a:p>
          <a:p>
            <a:pPr algn="l"/>
            <a:r>
              <a:rPr sz="1200">
                <a:solidFill>
                  <a:srgbClr val="7EE787"/>
                </a:solidFill>
                <a:latin typeface="Consolas"/>
              </a:rPr>
              <a:t>Dictionary&lt;string, JointRotation&gt; joints</a:t>
            </a:r>
          </a:p>
          <a:p>
            <a:pPr algn="l"/>
            <a:r>
              <a:rPr sz="1200">
                <a:solidFill>
                  <a:srgbClr val="7EE787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7EE787"/>
                </a:solidFill>
                <a:latin typeface="Consolas"/>
              </a:rPr>
              <a:t>// rest-pose delta 방식 (축 처짐 버그 해소)</a:t>
            </a:r>
          </a:p>
          <a:p>
            <a:pPr algn="l"/>
            <a:r>
              <a:rPr sz="1200">
                <a:solidFill>
                  <a:srgbClr val="7EE787"/>
                </a:solidFill>
                <a:latin typeface="Consolas"/>
              </a:rPr>
              <a:t>restRotation * Quaternion.Euler(ax, ay, az)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F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자동 캘리브레이션 — 키보드 없이 시작 가능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05840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6B6B"/>
                </a:solidFill>
              </a:rPr>
              <a:t>기존 방식의 문제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371600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FF"/>
                </a:solidFill>
              </a:rPr>
              <a:t>실행 후 키보드로 수동 캘리브레이션 트리거 → 데모 환경 불편, 비개발자 사용 불가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8288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FA3FF"/>
                </a:solidFill>
              </a:rPr>
              <a:t>상태머신 구조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212848"/>
            <a:ext cx="5303520" cy="292608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304288"/>
            <a:ext cx="5029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7EE787"/>
                </a:solidFill>
                <a:latin typeface="Consolas"/>
              </a:rPr>
              <a:t>[waiting]</a:t>
            </a:r>
          </a:p>
          <a:p>
            <a:pPr algn="l"/>
            <a:r>
              <a:rPr sz="1200">
                <a:solidFill>
                  <a:srgbClr val="7EE787"/>
                </a:solidFill>
                <a:latin typeface="Consolas"/>
              </a:rPr>
              <a:t>  손 미감지 → 계속 대기</a:t>
            </a:r>
          </a:p>
          <a:p>
            <a:pPr algn="l"/>
            <a:r>
              <a:rPr sz="1200">
                <a:solidFill>
                  <a:srgbClr val="7EE787"/>
                </a:solidFill>
                <a:latin typeface="Consolas"/>
              </a:rPr>
              <a:t>  손 감지 → [countdown]</a:t>
            </a:r>
          </a:p>
          <a:p>
            <a:pPr algn="l"/>
            <a:r>
              <a:rPr sz="1200">
                <a:solidFill>
                  <a:srgbClr val="7EE787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7EE787"/>
                </a:solidFill>
                <a:latin typeface="Consolas"/>
              </a:rPr>
              <a:t>[countdown]</a:t>
            </a:r>
          </a:p>
          <a:p>
            <a:pPr algn="l"/>
            <a:r>
              <a:rPr sz="1200">
                <a:solidFill>
                  <a:srgbClr val="7EE787"/>
                </a:solidFill>
                <a:latin typeface="Consolas"/>
              </a:rPr>
              <a:t>  5 → 4 → 3 → 2 → 1  (1초 간격)</a:t>
            </a:r>
          </a:p>
          <a:p>
            <a:pPr algn="l"/>
            <a:r>
              <a:rPr sz="1200">
                <a:solidFill>
                  <a:srgbClr val="7EE787"/>
                </a:solidFill>
                <a:latin typeface="Consolas"/>
              </a:rPr>
              <a:t>  도중 손 사라지면 → [waiting] 재시도</a:t>
            </a:r>
          </a:p>
          <a:p>
            <a:pPr algn="l"/>
            <a:r>
              <a:rPr sz="1200">
                <a:solidFill>
                  <a:srgbClr val="7EE787"/>
                </a:solidFill>
                <a:latin typeface="Consolas"/>
              </a:rPr>
              <a:t>  완료 → engine.calibrate() 호출 → [calib_done]</a:t>
            </a:r>
          </a:p>
          <a:p>
            <a:pPr algn="l"/>
            <a:r>
              <a:rPr sz="1200">
                <a:solidFill>
                  <a:srgbClr val="7EE787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7EE787"/>
                </a:solidFill>
                <a:latin typeface="Consolas"/>
              </a:rPr>
              <a:t>[calib_done]</a:t>
            </a:r>
          </a:p>
          <a:p>
            <a:pPr algn="l"/>
            <a:r>
              <a:rPr sz="1200">
                <a:solidFill>
                  <a:srgbClr val="7EE787"/>
                </a:solidFill>
                <a:latin typeface="Consolas"/>
              </a:rPr>
              <a:t>  정상 매핑 시작</a:t>
            </a:r>
          </a:p>
          <a:p>
            <a:pPr algn="l"/>
            <a:r>
              <a:rPr sz="1200">
                <a:solidFill>
                  <a:srgbClr val="7EE787"/>
                </a:solidFill>
                <a:latin typeface="Consolas"/>
              </a:rPr>
              <a:t>  손 완전히 사라지면 → [waiting] 재시도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8288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FA3FF"/>
                </a:solidFill>
              </a:rPr>
              <a:t>화면 표시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212848"/>
            <a:ext cx="5925312" cy="137160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2212848"/>
            <a:ext cx="5925312" cy="54864"/>
          </a:xfrm>
          <a:prstGeom prst="rect">
            <a:avLst/>
          </a:prstGeom>
          <a:solidFill>
            <a:srgbClr val="4F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2322576"/>
            <a:ext cx="5650992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▸  손 윤곽 가이드 오버레이 (어디에 손을 놓을지 시각화)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▸  중앙에 '5 4 3 2 1' 카운트다운 숫자 표시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▸  완료 후 '캘리브레이션 완료' 메시지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675887"/>
            <a:ext cx="5925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D9A9"/>
                </a:solidFill>
              </a:rPr>
              <a:t>engine.calibrate() 역할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4059936"/>
            <a:ext cx="5925312" cy="100584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0" y="4059936"/>
            <a:ext cx="5925312" cy="54864"/>
          </a:xfrm>
          <a:prstGeom prst="rect">
            <a:avLst/>
          </a:prstGeom>
          <a:solidFill>
            <a:srgbClr val="38D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4169664"/>
            <a:ext cx="5650992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▸  카운트다운 완료 시점의 손 포즈를 기준 포즈로 등록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</a:rPr>
              <a:t>▸  이후 모든 각도 계산은 이 기준 포즈 대비 delta로 산출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5166360"/>
            <a:ext cx="11548872" cy="18288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5257800"/>
            <a:ext cx="11548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8D9A9"/>
                </a:solidFill>
              </a:rPr>
              <a:t>효과: 실행 후 손만 올리면 자동 시작  |  데모 시 키보드 없이 구동 가능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F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추가 품질 개선 사항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87552"/>
            <a:ext cx="2011680" cy="384048"/>
          </a:xfrm>
          <a:prstGeom prst="rect">
            <a:avLst/>
          </a:prstGeom>
          <a:solidFill>
            <a:srgbClr val="4F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항목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987552"/>
            <a:ext cx="2834640" cy="384048"/>
          </a:xfrm>
          <a:prstGeom prst="rect">
            <a:avLst/>
          </a:prstGeom>
          <a:solidFill>
            <a:srgbClr val="4F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10058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기존</a:t>
            </a:r>
          </a:p>
        </p:txBody>
      </p:sp>
      <p:sp>
        <p:nvSpPr>
          <p:cNvPr id="8" name="Rectangle 7"/>
          <p:cNvSpPr/>
          <p:nvPr/>
        </p:nvSpPr>
        <p:spPr>
          <a:xfrm>
            <a:off x="5257800" y="987552"/>
            <a:ext cx="2834640" cy="384048"/>
          </a:xfrm>
          <a:prstGeom prst="rect">
            <a:avLst/>
          </a:prstGeom>
          <a:solidFill>
            <a:srgbClr val="4F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49240" y="10058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변경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987552"/>
            <a:ext cx="2743200" cy="384048"/>
          </a:xfrm>
          <a:prstGeom prst="rect">
            <a:avLst/>
          </a:prstGeom>
          <a:solidFill>
            <a:srgbClr val="4F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0058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효과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371600"/>
            <a:ext cx="2011680" cy="68580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77440" y="1371600"/>
            <a:ext cx="2834640" cy="68580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57800" y="1371600"/>
            <a:ext cx="2834640" cy="68580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2743200" cy="68580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1371600"/>
            <a:ext cx="54864" cy="685800"/>
          </a:xfrm>
          <a:prstGeom prst="rect">
            <a:avLst/>
          </a:prstGeom>
          <a:solidFill>
            <a:srgbClr val="4F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" y="1463040"/>
            <a:ext cx="17922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데드존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87168" y="1463040"/>
            <a:ext cx="26151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</a:rPr>
              <a:t>15°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7528" y="1463040"/>
            <a:ext cx="26151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FA3FF"/>
                </a:solidFill>
              </a:rPr>
              <a:t>5°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1463040"/>
            <a:ext cx="25237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미세 굽힘도 전달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084832"/>
            <a:ext cx="2011680" cy="685800"/>
          </a:xfrm>
          <a:prstGeom prst="rect">
            <a:avLst/>
          </a:prstGeom>
          <a:solidFill>
            <a:srgbClr val="10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77440" y="2084832"/>
            <a:ext cx="2834640" cy="685800"/>
          </a:xfrm>
          <a:prstGeom prst="rect">
            <a:avLst/>
          </a:prstGeom>
          <a:solidFill>
            <a:srgbClr val="10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57800" y="2084832"/>
            <a:ext cx="2834640" cy="685800"/>
          </a:xfrm>
          <a:prstGeom prst="rect">
            <a:avLst/>
          </a:prstGeom>
          <a:solidFill>
            <a:srgbClr val="10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60" y="2084832"/>
            <a:ext cx="2743200" cy="685800"/>
          </a:xfrm>
          <a:prstGeom prst="rect">
            <a:avLst/>
          </a:prstGeom>
          <a:solidFill>
            <a:srgbClr val="10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2084832"/>
            <a:ext cx="54864" cy="685800"/>
          </a:xfrm>
          <a:prstGeom prst="rect">
            <a:avLst/>
          </a:prstGeom>
          <a:solidFill>
            <a:srgbClr val="38D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" y="2176272"/>
            <a:ext cx="17922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ROM 비대칭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87168" y="2176272"/>
            <a:ext cx="26151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</a:rPr>
              <a:t>자동값 그대로 (편향)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67528" y="2176272"/>
            <a:ext cx="26151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8D9A9"/>
                </a:solidFill>
              </a:rPr>
              <a:t>수동 대칭 설정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2176272"/>
            <a:ext cx="25237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좌우 scale 균일화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798064"/>
            <a:ext cx="2011680" cy="68580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377440" y="2798064"/>
            <a:ext cx="2834640" cy="68580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57800" y="2798064"/>
            <a:ext cx="2834640" cy="68580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38160" y="2798064"/>
            <a:ext cx="2743200" cy="68580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" y="2798064"/>
            <a:ext cx="54864" cy="685800"/>
          </a:xfrm>
          <a:prstGeom prst="rect">
            <a:avLst/>
          </a:prstGeom>
          <a:solidFill>
            <a:srgbClr val="FFD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9768" y="2889504"/>
            <a:ext cx="17922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r_leg 방향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87168" y="2889504"/>
            <a:ext cx="26151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</a:rPr>
              <a:t>scale +1.32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67528" y="2889504"/>
            <a:ext cx="26151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45A"/>
                </a:solidFill>
              </a:rPr>
              <a:t>scale -1.32 (부호 반전)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47888" y="2889504"/>
            <a:ext cx="25237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오른쪽 다리 방향 수정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3511296"/>
            <a:ext cx="2011680" cy="685800"/>
          </a:xfrm>
          <a:prstGeom prst="rect">
            <a:avLst/>
          </a:prstGeom>
          <a:solidFill>
            <a:srgbClr val="10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377440" y="3511296"/>
            <a:ext cx="2834640" cy="685800"/>
          </a:xfrm>
          <a:prstGeom prst="rect">
            <a:avLst/>
          </a:prstGeom>
          <a:solidFill>
            <a:srgbClr val="10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257800" y="3511296"/>
            <a:ext cx="2834640" cy="685800"/>
          </a:xfrm>
          <a:prstGeom prst="rect">
            <a:avLst/>
          </a:prstGeom>
          <a:solidFill>
            <a:srgbClr val="10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38160" y="3511296"/>
            <a:ext cx="2743200" cy="685800"/>
          </a:xfrm>
          <a:prstGeom prst="rect">
            <a:avLst/>
          </a:prstGeom>
          <a:solidFill>
            <a:srgbClr val="10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0040" y="3511296"/>
            <a:ext cx="54864" cy="685800"/>
          </a:xfrm>
          <a:prstGeom prst="rect">
            <a:avLst/>
          </a:prstGeom>
          <a:solidFill>
            <a:srgbClr val="4F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9768" y="3602736"/>
            <a:ext cx="17922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포즈 샘플 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87168" y="3602736"/>
            <a:ext cx="26151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</a:rPr>
              <a:t>100개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67528" y="3602736"/>
            <a:ext cx="26151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FA3FF"/>
                </a:solidFill>
              </a:rPr>
              <a:t>1000개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47888" y="3602736"/>
            <a:ext cx="25237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기준 포즈 탐색 정확도 향상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4224528"/>
            <a:ext cx="2011680" cy="68580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377440" y="4224528"/>
            <a:ext cx="2834640" cy="68580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257800" y="4224528"/>
            <a:ext cx="2834640" cy="68580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38160" y="4224528"/>
            <a:ext cx="2743200" cy="68580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20040" y="4224528"/>
            <a:ext cx="54864" cy="685800"/>
          </a:xfrm>
          <a:prstGeom prst="rect">
            <a:avLst/>
          </a:prstGeom>
          <a:solidFill>
            <a:srgbClr val="38D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9768" y="4315968"/>
            <a:ext cx="17922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JointEntry 생성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87168" y="4315968"/>
            <a:ext cx="26151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</a:rPr>
              <a:t>38개 전부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67528" y="4315968"/>
            <a:ext cx="26151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8D9A9"/>
                </a:solidFill>
              </a:rPr>
              <a:t>24개 (매핑 기반 필터)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47888" y="4315968"/>
            <a:ext cx="25237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Inspector 정리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" y="4937760"/>
            <a:ext cx="2011680" cy="685800"/>
          </a:xfrm>
          <a:prstGeom prst="rect">
            <a:avLst/>
          </a:prstGeom>
          <a:solidFill>
            <a:srgbClr val="10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377440" y="4937760"/>
            <a:ext cx="2834640" cy="685800"/>
          </a:xfrm>
          <a:prstGeom prst="rect">
            <a:avLst/>
          </a:prstGeom>
          <a:solidFill>
            <a:srgbClr val="10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57800" y="4937760"/>
            <a:ext cx="2834640" cy="685800"/>
          </a:xfrm>
          <a:prstGeom prst="rect">
            <a:avLst/>
          </a:prstGeom>
          <a:solidFill>
            <a:srgbClr val="10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138160" y="4937760"/>
            <a:ext cx="2743200" cy="685800"/>
          </a:xfrm>
          <a:prstGeom prst="rect">
            <a:avLst/>
          </a:prstGeom>
          <a:solidFill>
            <a:srgbClr val="10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20040" y="4937760"/>
            <a:ext cx="54864" cy="685800"/>
          </a:xfrm>
          <a:prstGeom prst="rect">
            <a:avLst/>
          </a:prstGeom>
          <a:solidFill>
            <a:srgbClr val="88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29768" y="5029200"/>
            <a:ext cx="17922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포즈 DB 크기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487168" y="5029200"/>
            <a:ext cx="26151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</a:rPr>
              <a:t>197개 (Death/WalkBack 포함)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67528" y="5029200"/>
            <a:ext cx="26151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</a:rPr>
              <a:t>140개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47888" y="5029200"/>
            <a:ext cx="25237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불필요 포즈 제거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5650992"/>
            <a:ext cx="2011680" cy="68580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377440" y="5650992"/>
            <a:ext cx="2834640" cy="68580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257800" y="5650992"/>
            <a:ext cx="2834640" cy="68580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138160" y="5650992"/>
            <a:ext cx="2743200" cy="68580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20040" y="5650992"/>
            <a:ext cx="54864" cy="685800"/>
          </a:xfrm>
          <a:prstGeom prst="rect">
            <a:avLst/>
          </a:prstGeom>
          <a:solidFill>
            <a:srgbClr val="4F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29768" y="5742432"/>
            <a:ext cx="17922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관절 변환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487168" y="5742432"/>
            <a:ext cx="26151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</a:rPr>
              <a:t>transform_bilateral()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67528" y="5742432"/>
            <a:ext cx="26151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FA3FF"/>
                </a:solidFill>
              </a:rPr>
              <a:t>transform_clamped()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47888" y="5742432"/>
            <a:ext cx="25237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skeleton min/max 초과 차단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F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실행 결과 / 스크린샷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24128"/>
            <a:ext cx="5577840" cy="265176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24128"/>
            <a:ext cx="5577840" cy="2651760"/>
          </a:xfrm>
          <a:prstGeom prst="rect">
            <a:avLst/>
          </a:prstGeom>
          <a:noFill/>
          <a:ln w="12700">
            <a:solidFill>
              <a:srgbClr val="889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938528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99BB"/>
                </a:solidFill>
              </a:rPr>
              <a:t>[ Unity 실행 화면 ]
Spider 다리 8개 동기 제어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024128"/>
            <a:ext cx="5577840" cy="265176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024128"/>
            <a:ext cx="5577840" cy="2651760"/>
          </a:xfrm>
          <a:prstGeom prst="rect">
            <a:avLst/>
          </a:prstGeom>
          <a:noFill/>
          <a:ln w="12700">
            <a:solidFill>
              <a:srgbClr val="889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938528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99BB"/>
                </a:solidFill>
              </a:rPr>
              <a:t>[ ModelReviewWindow ]
Include 체크박스 + 좌우 배정 UI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840480"/>
            <a:ext cx="5577840" cy="265176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3840480"/>
            <a:ext cx="5577840" cy="2651760"/>
          </a:xfrm>
          <a:prstGeom prst="rect">
            <a:avLst/>
          </a:prstGeom>
          <a:noFill/>
          <a:ln w="12700">
            <a:solidFill>
              <a:srgbClr val="889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75488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99BB"/>
                </a:solidFill>
              </a:rPr>
              <a:t>[ Python 콘솔 로그 ]
P1: [Walk frame=3] 출력 확인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3840480"/>
            <a:ext cx="5577840" cy="265176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3840480"/>
            <a:ext cx="5577840" cy="2651760"/>
          </a:xfrm>
          <a:prstGeom prst="rect">
            <a:avLst/>
          </a:prstGeom>
          <a:noFill/>
          <a:ln w="12700">
            <a:solidFill>
              <a:srgbClr val="889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75488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99BB"/>
                </a:solidFill>
              </a:rPr>
              <a:t>[ Inspector JointEntry ]
24개 관절 자동 생성 결과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583680"/>
            <a:ext cx="11548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7"/>
                </a:solidFill>
              </a:rPr>
              <a:t>※ 발표 전 스크린샷 삽입 예정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F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한계 및 배운 점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24128"/>
            <a:ext cx="347472" cy="34747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2412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2412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6B"/>
                </a:solidFill>
              </a:rPr>
              <a:t>ROM 자동화의 한계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08176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클립이 관절의 실제 가동범위를 커버하지 않으면 ROM 과소 추정
→ 더 다양한 클립 or 물리 시뮬레이션 기반 ROM 추정 필요 (미구현)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258568"/>
            <a:ext cx="11548872" cy="18288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2304288"/>
            <a:ext cx="347472" cy="347472"/>
          </a:xfrm>
          <a:prstGeom prst="rect">
            <a:avLst/>
          </a:prstGeom>
          <a:solidFill>
            <a:srgbClr val="FFD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230428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0428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45A"/>
                </a:solidFill>
              </a:rPr>
              <a:t>단일 DoF 가정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88336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현재 관절당 1-DoF만 매핑
→ 실제 동물 관절은 다축 동시 회전 가능, 표현력 제한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538728"/>
            <a:ext cx="11548872" cy="18288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3584448"/>
            <a:ext cx="347472" cy="347472"/>
          </a:xfrm>
          <a:prstGeom prst="rect">
            <a:avLst/>
          </a:prstGeom>
          <a:solidFill>
            <a:srgbClr val="FFD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358444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58444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45A"/>
                </a:solidFill>
              </a:rPr>
              <a:t>손가락 수 &lt; 다리 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968496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손가락 4개(엄지 제외)로 다리 4쌍 제어
→ 엄지 활용 방법 미결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818888"/>
            <a:ext cx="11548872" cy="18288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864608"/>
            <a:ext cx="347472" cy="347472"/>
          </a:xfrm>
          <a:prstGeom prst="rect">
            <a:avLst/>
          </a:prstGeom>
          <a:solidFill>
            <a:srgbClr val="88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486460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6460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899BB"/>
                </a:solidFill>
              </a:rPr>
              <a:t>캘리브레이션 민감도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248656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카운트다운 중 손이 흔들리면 기준 포즈 부정확
→ 여러 프레임 평균값 사용 등 안정화 미적용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6099048"/>
            <a:ext cx="11548872" cy="18288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6199632"/>
            <a:ext cx="11548872" cy="18288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291072"/>
            <a:ext cx="11548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8D9A9"/>
                </a:solidFill>
              </a:rPr>
              <a:t>배운 점:  데이터 기반 파이프라인에서 '자동화'와 '사람 검수'의 적절한 분담이 핵심   |   포맷 변경(float→dict)은 파이프라인 전체에 연쇄 영향 → 인터페이스 설계가 중요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F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남은 과제 및 계획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05840"/>
            <a:ext cx="5577840" cy="557784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5577840" cy="411480"/>
          </a:xfrm>
          <a:prstGeom prst="rect">
            <a:avLst/>
          </a:prstGeom>
          <a:solidFill>
            <a:srgbClr val="4F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</a:rPr>
              <a:t>단기 — 다음 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500">
                <a:solidFill>
                  <a:srgbClr val="FFFFFF"/>
                </a:solidFill>
              </a:rPr>
              <a:t>☐  Keyframe 모드 최종 검증
(다리 8개 전체 동기 확인)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FFFFFF"/>
                </a:solidFill>
              </a:rPr>
              <a:t>☐  r_leg_001/002/003 방향 확인
(현재 r_leg만 부호 반전, 나머지 미확인)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FFFFFF"/>
                </a:solidFill>
              </a:rPr>
              <a:t>☐  middle_mcp 스케일 비대칭 수정
(l=0.92, r=0.59 → r_leg_001 ROM 조정)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FFFFFF"/>
                </a:solidFill>
              </a:rPr>
              <a:t>☐  캘리브레이션 안정화
(카운트다운 중 평균값 사용)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FFFFFF"/>
                </a:solidFill>
              </a:rPr>
              <a:t>☐  bone(몸통) 매핑 적용 여부 결정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005840"/>
            <a:ext cx="5577840" cy="557784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005840"/>
            <a:ext cx="5577840" cy="411480"/>
          </a:xfrm>
          <a:prstGeom prst="rect">
            <a:avLst/>
          </a:prstGeom>
          <a:solidFill>
            <a:srgbClr val="38D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02412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</a:rPr>
              <a:t>중기 — 2~3주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50876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500">
                <a:solidFill>
                  <a:srgbClr val="FFFFFF"/>
                </a:solidFill>
              </a:rPr>
              <a:t>☐  butterfly, fish 등 타 동물
동일 파이프라인 적용 및 검증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FFFFFF"/>
                </a:solidFill>
              </a:rPr>
              <a:t>☐  손동작↔동물동작 매핑 품질
정량 평가 (Q_score 비교표)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FFFFFF"/>
                </a:solidFill>
              </a:rPr>
              <a:t>☐  실시간 지연시간 측정 및 최적화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FFFFFF"/>
                </a:solidFill>
              </a:rPr>
              <a:t>☐  데모 영상 촬영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FFFFFF"/>
                </a:solidFill>
              </a:rPr>
              <a:t>☐  최종 발표 준비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