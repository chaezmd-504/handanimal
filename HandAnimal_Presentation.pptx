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097280"/>
            <a:ext cx="457200" cy="457200"/>
          </a:xfrm>
          <a:prstGeom prst="ellipse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1920240"/>
            <a:ext cx="320040" cy="320040"/>
          </a:xfrm>
          <a:prstGeom prst="ellipse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2560320"/>
            <a:ext cx="256032" cy="256032"/>
          </a:xfrm>
          <a:prstGeom prst="ellipse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C8FF"/>
                </a:solidFill>
              </a:rPr>
              <a:t>HandAnimal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Real-Time Animal Control via Hand &amp; Gaze Tracking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84048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BBCC"/>
                </a:solidFill>
              </a:rPr>
              <a:t>Intuitive embodied control of virtual animals
through natural hand and gaze movement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Problem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Traditional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</a:rPr>
              <a:t>⌨  Keyboard / Controller input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</a:rPr>
              <a:t>⚠  No sense of body ownership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</a:rPr>
              <a:t>⚠  Breaks immersion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</a:rPr>
              <a:t>⚠  High learning curve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BFFD4"/>
                </a:solidFill>
              </a:rPr>
              <a:t>HandAnimal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</a:rPr>
              <a:t>🖐  Natural hand gestures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</a:rPr>
              <a:t>👁  Gaze-based navigation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</a:rPr>
              <a:t>✅  Embodied body ownership</a:t>
            </a:r>
          </a:p>
          <a:p>
            <a:pPr>
              <a:spcBef>
                <a:spcPts val="600"/>
              </a:spcBef>
            </a:pPr>
            <a:r>
              <a:rPr sz="1900">
                <a:solidFill>
                  <a:srgbClr val="FFFFFF"/>
                </a:solidFill>
              </a:rPr>
              <a:t>✅  Zero learning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3774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"What if you could wear the animal's body?"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System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1554480" cy="1005840"/>
          </a:xfrm>
          <a:prstGeom prst="rect">
            <a:avLst/>
          </a:prstGeom>
          <a:solidFill>
            <a:srgbClr val="004A7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Camera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2194560"/>
            <a:ext cx="1554480" cy="1005840"/>
          </a:xfrm>
          <a:prstGeom prst="rect">
            <a:avLst/>
          </a:prstGeom>
          <a:solidFill>
            <a:srgbClr val="004A7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1945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Python
(MediaPipe)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194560"/>
            <a:ext cx="1554480" cy="1005840"/>
          </a:xfrm>
          <a:prstGeom prst="rect">
            <a:avLst/>
          </a:prstGeom>
          <a:solidFill>
            <a:srgbClr val="004A7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WebSocket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94560"/>
            <a:ext cx="1554480" cy="1005840"/>
          </a:xfrm>
          <a:prstGeom prst="rect">
            <a:avLst/>
          </a:prstGeom>
          <a:solidFill>
            <a:srgbClr val="004A7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1945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Unity
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194560"/>
            <a:ext cx="1554480" cy="1005840"/>
          </a:xfrm>
          <a:prstGeom prst="rect">
            <a:avLst/>
          </a:prstGeom>
          <a:solidFill>
            <a:srgbClr val="004A7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194560"/>
            <a:ext cx="1554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Animal
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194560"/>
            <a:ext cx="548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2194560"/>
            <a:ext cx="548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94560"/>
            <a:ext cx="548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94560"/>
            <a:ext cx="548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BFFD4"/>
                </a:solidFill>
              </a:rPr>
              <a:t>Channel 1 — Hand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D700"/>
                </a:solidFill>
              </a:rPr>
              <a:t>Channel 2 — Gaze Tracking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46320"/>
            <a:ext cx="3474720" cy="457200"/>
          </a:xfrm>
          <a:prstGeom prst="rect">
            <a:avLst/>
          </a:prstGeom>
          <a:solidFill>
            <a:srgbClr val="00508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846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C8FF"/>
                </a:solidFill>
              </a:rPr>
              <a:t>MediaPipe Hands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4846320"/>
            <a:ext cx="3474720" cy="457200"/>
          </a:xfrm>
          <a:prstGeom prst="rect">
            <a:avLst/>
          </a:prstGeom>
          <a:solidFill>
            <a:srgbClr val="00508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4846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C8FF"/>
                </a:solidFill>
              </a:rPr>
              <a:t>MediaPipe FaceMesh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4846320"/>
            <a:ext cx="3474720" cy="457200"/>
          </a:xfrm>
          <a:prstGeom prst="rect">
            <a:avLst/>
          </a:prstGeom>
          <a:solidFill>
            <a:srgbClr val="00508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48463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C8FF"/>
                </a:solidFill>
              </a:rPr>
              <a:t>Python 3.10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440680"/>
            <a:ext cx="3474720" cy="457200"/>
          </a:xfrm>
          <a:prstGeom prst="rect">
            <a:avLst/>
          </a:prstGeom>
          <a:solidFill>
            <a:srgbClr val="00508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440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C8FF"/>
                </a:solidFill>
              </a:rPr>
              <a:t>WebSockets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5440680"/>
            <a:ext cx="3474720" cy="457200"/>
          </a:xfrm>
          <a:prstGeom prst="rect">
            <a:avLst/>
          </a:prstGeom>
          <a:solidFill>
            <a:srgbClr val="00508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97680" y="5440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C8FF"/>
                </a:solidFill>
              </a:rPr>
              <a:t>Unity 2022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38160" y="5440680"/>
            <a:ext cx="3474720" cy="457200"/>
          </a:xfrm>
          <a:prstGeom prst="rect">
            <a:avLst/>
          </a:prstGeom>
          <a:solidFill>
            <a:srgbClr val="00508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54406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C8FF"/>
                </a:solidFill>
              </a:rPr>
              <a:t>C# Scripts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Hand Tracking &amp; Joint Mapping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BFFD4"/>
                </a:solidFill>
              </a:rPr>
              <a:t>Input → Animal Joint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Finger curl   →   Leg joint flexion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Wrist angle   →   Spine / shoulder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Palm normal   →   Body tilt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Hand open     →   Rest / idle 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Key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202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📐  ROM-based joint mapping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〰  EMA smoothing (2-stage)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🔀  Blend mode: idle / walk / action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⚖  Left-right ROM symmetrization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🎯  5° dead-zone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ABBCC"/>
                </a:solidFill>
              </a:rPr>
              <a:t>Supported Animals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🕷  Spider  (8-leg IK)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🐴  Horse  (quadruped)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Locomotion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011680" cy="1097280"/>
          </a:xfrm>
          <a:prstGeom prst="rect">
            <a:avLst/>
          </a:prstGeom>
          <a:solidFill>
            <a:srgbClr val="004A7C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Left Hand
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2880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011680" cy="1097280"/>
          </a:xfrm>
          <a:prstGeom prst="rect">
            <a:avLst/>
          </a:prstGeom>
          <a:solidFill>
            <a:srgbClr val="005A5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Speed
Mapping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82880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28800"/>
            <a:ext cx="2011680" cy="1097280"/>
          </a:xfrm>
          <a:prstGeom prst="rect">
            <a:avLst/>
          </a:prstGeom>
          <a:solidFill>
            <a:srgbClr val="3A3A0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Animation
Blend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828800"/>
            <a:ext cx="822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828800"/>
            <a:ext cx="2011680" cy="1097280"/>
          </a:xfrm>
          <a:prstGeom prst="rect">
            <a:avLst/>
          </a:prstGeom>
          <a:solidFill>
            <a:srgbClr val="50005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82880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Animal
Movement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BFFD4"/>
                </a:solidFill>
              </a:rPr>
              <a:t>Spider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Walk animation speed synced to hand velocity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Smooth transition: idle ↔ walk ↔ run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8 legs animated via procedural 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Horse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Side override for lateral movement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Gait blend: walk / trot / canter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Head bow &amp; body lean response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Gaze-Based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474720" cy="2011680"/>
          </a:xfrm>
          <a:prstGeom prst="rect">
            <a:avLst/>
          </a:prstGeom>
          <a:solidFill>
            <a:srgbClr val="002A40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C8FF"/>
                </a:solidFill>
              </a:rPr>
              <a:t>MediaPipe
FaceMesh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603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Detects iris position
&amp; gaze direction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468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3474720" cy="2011680"/>
          </a:xfrm>
          <a:prstGeom prst="rect">
            <a:avLst/>
          </a:prstGeom>
          <a:solidFill>
            <a:srgbClr val="002A40"/>
          </a:solidFill>
          <a:ln>
            <a:solidFill>
              <a:srgbClr val="7BF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BFFD4"/>
                </a:solidFill>
              </a:rPr>
              <a:t>GazeCalibrator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5603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User-specific
calibration
(min/max gaze range)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468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828800"/>
            <a:ext cx="3474720" cy="2011680"/>
          </a:xfrm>
          <a:prstGeom prst="rect">
            <a:avLst/>
          </a:prstGeom>
          <a:solidFill>
            <a:srgbClr val="002A4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192024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D700"/>
                </a:solidFill>
              </a:rPr>
              <a:t>GazeNavigator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256032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Maps gaze vector
to animal heading
with smooth blend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BBCC"/>
                </a:solidFill>
              </a:rPr>
              <a:t>Data 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Eye landmark → normalized gaze (x, y)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Calibrated range → direction vector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EMA smoothing → stable heading output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WebSocket → Unity GazeNavigator in real-time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Demo &amp;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3840480"/>
          </a:xfrm>
          <a:prstGeom prst="rect">
            <a:avLst/>
          </a:prstGeom>
          <a:solidFill>
            <a:srgbClr val="051020"/>
          </a:solidFill>
          <a:ln>
            <a:solidFill>
              <a:srgbClr val="7BF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7BFFD4"/>
                </a:solidFill>
              </a:rPr>
              <a:t>🕷  Spider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5120640" cy="1828800"/>
          </a:xfrm>
          <a:prstGeom prst="rect">
            <a:avLst/>
          </a:prstGeom>
          <a:solidFill>
            <a:srgbClr val="102030"/>
          </a:solidFill>
          <a:ln>
            <a:solidFill>
              <a:srgbClr val="7BF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</a:rPr>
              <a:t>[ Demo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Blend mode switching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8-leg IK locomotion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Gaze steering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554480"/>
            <a:ext cx="5486400" cy="3840480"/>
          </a:xfrm>
          <a:prstGeom prst="rect">
            <a:avLst/>
          </a:prstGeom>
          <a:solidFill>
            <a:srgbClr val="05102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D700"/>
                </a:solidFill>
              </a:rPr>
              <a:t>🐴  Horse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2240280"/>
            <a:ext cx="5120640" cy="1828800"/>
          </a:xfrm>
          <a:prstGeom prst="rect">
            <a:avLst/>
          </a:prstGeom>
          <a:solidFill>
            <a:srgbClr val="10203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AABBCC"/>
                </a:solidFill>
              </a:rPr>
              <a:t>[ Demo Screenshot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1605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Gait blend walk/trot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Head bow &amp; body lean</a:t>
            </a:r>
          </a:p>
          <a:p>
            <a:pPr>
              <a:spcBef>
                <a:spcPts val="600"/>
              </a:spcBef>
            </a:pPr>
            <a:r>
              <a:rPr sz="1600">
                <a:solidFill>
                  <a:srgbClr val="FFFFFF"/>
                </a:solidFill>
              </a:rPr>
              <a:t>Side override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4114800" cy="1097280"/>
          </a:xfrm>
          <a:prstGeom prst="rect">
            <a:avLst/>
          </a:prstGeom>
          <a:solidFill>
            <a:srgbClr val="300808"/>
          </a:solidFill>
          <a:ln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888"/>
                </a:solidFill>
              </a:rPr>
              <a:t>⚠  Joint Noise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4767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Jittery landmark detection
causes uncontrolled movement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508760"/>
            <a:ext cx="6217920" cy="1097280"/>
          </a:xfrm>
          <a:prstGeom prst="rect">
            <a:avLst/>
          </a:prstGeom>
          <a:solidFill>
            <a:srgbClr val="003020"/>
          </a:solidFill>
          <a:ln>
            <a:solidFill>
              <a:srgbClr val="7BF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0" y="15544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FFD4"/>
                </a:solidFill>
              </a:rPr>
              <a:t>✅ 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947672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Per-joint 2-stage EMA smoothing
independent alpha per joint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743200"/>
            <a:ext cx="4114800" cy="1097280"/>
          </a:xfrm>
          <a:prstGeom prst="rect">
            <a:avLst/>
          </a:prstGeom>
          <a:solidFill>
            <a:srgbClr val="300808"/>
          </a:solidFill>
          <a:ln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888"/>
                </a:solidFill>
              </a:rPr>
              <a:t>⚠  L/R Asymmetry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8211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Hand skeleton is not
perfectly symmetric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2743200"/>
            <a:ext cx="6217920" cy="1097280"/>
          </a:xfrm>
          <a:prstGeom prst="rect">
            <a:avLst/>
          </a:prstGeom>
          <a:solidFill>
            <a:srgbClr val="003020"/>
          </a:solidFill>
          <a:ln>
            <a:solidFill>
              <a:srgbClr val="7BF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27889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FFD4"/>
                </a:solidFill>
              </a:rPr>
              <a:t>✅ 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182112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ROM symmetrization:
mirror mapping calibration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4114800" cy="1097280"/>
          </a:xfrm>
          <a:prstGeom prst="rect">
            <a:avLst/>
          </a:prstGeom>
          <a:solidFill>
            <a:srgbClr val="300808"/>
          </a:solidFill>
          <a:ln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23359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888"/>
                </a:solidFill>
              </a:rPr>
              <a:t>⚠  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416551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Python → Unity round-trip
affects real-time feel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251959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0" y="3977639"/>
            <a:ext cx="6217920" cy="1097280"/>
          </a:xfrm>
          <a:prstGeom prst="rect">
            <a:avLst/>
          </a:prstGeom>
          <a:solidFill>
            <a:srgbClr val="003020"/>
          </a:solidFill>
          <a:ln>
            <a:solidFill>
              <a:srgbClr val="7BF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402335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FFD4"/>
                </a:solidFill>
              </a:rPr>
              <a:t>✅ 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416551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WebSocket low-latency stream
--fast / --skip low-spec flags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212080"/>
            <a:ext cx="4114800" cy="1097280"/>
          </a:xfrm>
          <a:prstGeom prst="rect">
            <a:avLst/>
          </a:prstGeom>
          <a:solidFill>
            <a:srgbClr val="300808"/>
          </a:solidFill>
          <a:ln>
            <a:solidFill>
              <a:srgbClr val="F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2578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8888"/>
                </a:solidFill>
              </a:rPr>
              <a:t>⚠  Dead-zone Tuning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50992"/>
            <a:ext cx="3931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Micro-movements trigger
unintended animation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4864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0" y="5212080"/>
            <a:ext cx="6217920" cy="1097280"/>
          </a:xfrm>
          <a:prstGeom prst="rect">
            <a:avLst/>
          </a:prstGeom>
          <a:solidFill>
            <a:srgbClr val="003020"/>
          </a:solidFill>
          <a:ln>
            <a:solidFill>
              <a:srgbClr val="7BFF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77840" y="52578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BFFD4"/>
                </a:solidFill>
              </a:rPr>
              <a:t>✅  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650992"/>
            <a:ext cx="5943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5° angular dead-zone
for stable idle state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54864" cy="64008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C8FF"/>
                </a:solidFill>
              </a:rPr>
              <a:t>Conclusion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80160"/>
            <a:ext cx="11064240" cy="2743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11064240" cy="1371600"/>
          </a:xfrm>
          <a:prstGeom prst="rect">
            <a:avLst/>
          </a:prstGeom>
          <a:solidFill>
            <a:srgbClr val="003055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"HandAnimal enables intuitive embodied control of virtual animals
through natural hand and gaze movement."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BFFD4"/>
                </a:solidFill>
              </a:rPr>
              <a:t>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✅  Real-time hand → joint mapping pipeline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✅  Two animal types: Spider &amp; Horse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✅  Gaze-based navigation system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✅  Smooth locomotion &amp; blend mode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D700"/>
                </a:solidFill>
              </a:rPr>
              <a:t>Future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🔮  More animal types (bird, fish, insect)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🔮  Full-body pose tracking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🔮  VR / XR headset integration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FFFF"/>
                </a:solidFill>
              </a:rPr>
              <a:t>🔮  Multiplayer embodiment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AABBCC"/>
                </a:solidFill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