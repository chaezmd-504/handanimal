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Malgun Gothic"/>
              </a:rPr>
              <a:t>Blend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0C4FF"/>
                </a:solidFill>
                <a:latin typeface="Malgun Gothic"/>
              </a:rPr>
              <a:t>손 제스처 → 동물 애니메이션 블렌딩 파이프라인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  <a:latin typeface="Malgun Gothic"/>
              </a:rPr>
              <a:t>Direct Engine  +  Sequential Engine  +  Alpha Blending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Malgun Gothic"/>
              </a:rPr>
              <a:t>HandAnimal Project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algun Gothic"/>
              </a:rPr>
              <a:t>Blend 모드란?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C4FF"/>
                </a:solidFill>
                <a:latin typeface="Malgun Gothic"/>
              </a:rPr>
              <a:t>두 가지 요구사항을 동시에 만족시키는 하이브리드 방식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03520" cy="2011680"/>
          </a:xfrm>
          <a:prstGeom prst="rect">
            <a:avLst/>
          </a:prstGeom>
          <a:solidFill>
            <a:srgbClr val="0D2A45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9BD5"/>
                </a:solidFill>
                <a:latin typeface="Malgun Gothic"/>
              </a:rPr>
              <a:t>연속성 (Continuous)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손가락 굽힘 → 다리가 즉시 반응
손 DOF × scale → 관절 각도
(반응성, 실시간)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463040"/>
            <a:ext cx="5303520" cy="2011680"/>
          </a:xfrm>
          <a:prstGeom prst="rect">
            <a:avLst/>
          </a:prstGeom>
          <a:solidFill>
            <a:srgbClr val="0D2D12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Malgun Gothic"/>
              </a:rPr>
              <a:t>특수 동작 (Action)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659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주먹 쥐기 / 손목 비틀기 →
사전 디자인된 애니메이션 재생
(자연스러운 액션)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92024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C000"/>
                </a:solidFill>
                <a:latin typeface="Malgun Gothic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291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C000"/>
                </a:solidFill>
                <a:latin typeface="Malgun Gothic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931920"/>
            <a:ext cx="6675120" cy="1097280"/>
          </a:xfrm>
          <a:prstGeom prst="rect">
            <a:avLst/>
          </a:prstGeom>
          <a:solidFill>
            <a:srgbClr val="2D1E00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4160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000"/>
                </a:solidFill>
                <a:latin typeface="Malgun Gothic"/>
              </a:rPr>
              <a:t>Blend =  (1 - α) × joints_direct  +  α × joints_keyframe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212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  <a:latin typeface="Malgun Gothic"/>
              </a:rPr>
              <a:t>α = 0 → 손 제어 100%     α = 1 → 애니메이션 100%     0&lt;α&lt;1 → 자연스러운 혼합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algun Gothic"/>
              </a:rPr>
              <a:t>전체 파이프라인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80160"/>
            <a:ext cx="1828800" cy="1463040"/>
          </a:xfrm>
          <a:prstGeom prst="rect">
            <a:avLst/>
          </a:prstGeom>
          <a:solidFill>
            <a:srgbClr val="1A1A30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59" y="13716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B9BD5"/>
                </a:solidFill>
                <a:latin typeface="Malgun Gothic"/>
              </a:rPr>
              <a:t>웹캠
프레임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691640"/>
            <a:ext cx="24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CCCCC"/>
                </a:solidFill>
                <a:latin typeface="Malgun Gothic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350008" y="1280160"/>
            <a:ext cx="1828800" cy="1463040"/>
          </a:xfrm>
          <a:prstGeom prst="rect">
            <a:avLst/>
          </a:prstGeom>
          <a:solidFill>
            <a:srgbClr val="1A1A30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95728" y="13716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B9BD5"/>
                </a:solidFill>
                <a:latin typeface="Malgun Gothic"/>
              </a:rPr>
              <a:t>MediaPipe
손 랜드마크
(21점×2손)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8808" y="1691640"/>
            <a:ext cx="24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CCCCC"/>
                </a:solidFill>
                <a:latin typeface="Malgun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9976" y="1280160"/>
            <a:ext cx="1828800" cy="1463040"/>
          </a:xfrm>
          <a:prstGeom prst="rect">
            <a:avLst/>
          </a:prstGeom>
          <a:solidFill>
            <a:srgbClr val="1A1A30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696" y="13716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B9BD5"/>
                </a:solidFill>
                <a:latin typeface="Malgun Gothic"/>
              </a:rPr>
              <a:t>DOF 계산
+EMA 스무딩
(20 DOF/손)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691640"/>
            <a:ext cx="24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CCCCC"/>
                </a:solidFill>
                <a:latin typeface="Malgun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9944" y="1280160"/>
            <a:ext cx="1828800" cy="1463040"/>
          </a:xfrm>
          <a:prstGeom prst="rect">
            <a:avLst/>
          </a:prstGeom>
          <a:solidFill>
            <a:srgbClr val="1A1A30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3716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B9BD5"/>
                </a:solidFill>
                <a:latin typeface="Malgun Gothic"/>
              </a:rPr>
              <a:t>Direct
엔진
(즉시 변환)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1691640"/>
            <a:ext cx="246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CCCCC"/>
                </a:solidFill>
                <a:latin typeface="Malgun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2" y="1280160"/>
            <a:ext cx="1828800" cy="1463040"/>
          </a:xfrm>
          <a:prstGeom prst="rect">
            <a:avLst/>
          </a:prstGeom>
          <a:solidFill>
            <a:srgbClr val="1A1A30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13716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000"/>
                </a:solidFill>
                <a:latin typeface="Malgun Gothic"/>
              </a:rPr>
              <a:t>LDA
트리거
판별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9BD5"/>
                </a:solidFill>
                <a:latin typeface="Malgun Gothic"/>
              </a:rPr>
              <a:t>↓  트리거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C000"/>
                </a:solidFill>
                <a:latin typeface="Malgun Gothic"/>
              </a:rPr>
              <a:t>↓  트리거 발동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246120"/>
            <a:ext cx="5029200" cy="914400"/>
          </a:xfrm>
          <a:prstGeom prst="rect">
            <a:avLst/>
          </a:prstGeom>
          <a:solidFill>
            <a:srgbClr val="0A203A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832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B9BD5"/>
                </a:solidFill>
                <a:latin typeface="Malgun Gothic"/>
              </a:rPr>
              <a:t>joints = joints_direct   (α = 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39712" y="3246120"/>
            <a:ext cx="5029200" cy="914400"/>
          </a:xfrm>
          <a:prstGeom prst="rect">
            <a:avLst/>
          </a:prstGeom>
          <a:solidFill>
            <a:srgbClr val="1A2A00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29184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0AD47"/>
                </a:solidFill>
                <a:latin typeface="Malgun Gothic"/>
              </a:rPr>
              <a:t>Sequential 키프레임 보간
→ Alpha 블렌딩 적용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160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C000"/>
                </a:solidFill>
                <a:latin typeface="Malgun Gothic"/>
              </a:rPr>
              <a:t>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160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C000"/>
                </a:solidFill>
                <a:latin typeface="Malgun Gothic"/>
              </a:rPr>
              <a:t>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4709160"/>
            <a:ext cx="5029200" cy="777240"/>
          </a:xfrm>
          <a:prstGeom prst="rect">
            <a:avLst/>
          </a:prstGeom>
          <a:solidFill>
            <a:srgbClr val="2D1A3A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48463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Malgun Gothic"/>
              </a:rPr>
              <a:t>WebSocket 전송 → Unity AnimalController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669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  <a:latin typeface="Malgun Gothic"/>
              </a:rPr>
              <a:t>{"l_leg":{"x":0,"y":0,"z":-32.5}, "r_leg":{...}, ...}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algun Gothic"/>
              </a:rPr>
              <a:t>두 엔진: Direct vs Sequential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486400" cy="5120640"/>
          </a:xfrm>
          <a:prstGeom prst="rect">
            <a:avLst/>
          </a:prstGeom>
          <a:solidFill>
            <a:srgbClr val="0A1F38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B9BD5"/>
                </a:solidFill>
                <a:latin typeface="Malgun Gothic"/>
              </a:rPr>
              <a:t>Direct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  <a:latin typeface="Malgun Gothic"/>
              </a:rPr>
              <a:t>(MappingEngine)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5B9BD5"/>
                </a:solidFill>
                <a:latin typeface="Malgun Gothic"/>
              </a:rPr>
              <a:t>역할: </a:t>
            </a:r>
            <a:r>
              <a:rPr sz="1500">
                <a:solidFill>
                  <a:srgbClr val="FFFFFF"/>
                </a:solidFill>
                <a:latin typeface="Malgun Gothic"/>
              </a:rPr>
              <a:t>손 DOF를 즉각 관절 각도로 변환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5B9BD5"/>
                </a:solidFill>
                <a:latin typeface="Malgun Gothic"/>
              </a:rPr>
              <a:t>수식: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joint = (dof - dof_ref) × scale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5B9BD5"/>
                </a:solidFill>
                <a:latin typeface="Malgun Gothic"/>
              </a:rPr>
              <a:t>예시 (l_leg):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index_mcp = 45°,  ref = 12°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scale = 1.95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→  l_leg = (45-12) × 1.95 = 64.35°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5B9BD5"/>
                </a:solidFill>
                <a:latin typeface="Malgun Gothic"/>
              </a:rPr>
              <a:t>특징: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매 프레임 즉시 계산 (반응성 최고)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노이즈 → 3° 데드존으로 보완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05840"/>
            <a:ext cx="5486400" cy="5120640"/>
          </a:xfrm>
          <a:prstGeom prst="rect">
            <a:avLst/>
          </a:prstGeom>
          <a:solidFill>
            <a:srgbClr val="0A280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0515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0AD47"/>
                </a:solidFill>
                <a:latin typeface="Malgun Gothic"/>
              </a:rPr>
              <a:t>Sequential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  <a:latin typeface="Malgun Gothic"/>
              </a:rPr>
              <a:t>(KeyframeMappingEngine)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70AD47"/>
                </a:solidFill>
                <a:latin typeface="Malgun Gothic"/>
              </a:rPr>
              <a:t>역할: </a:t>
            </a:r>
            <a:r>
              <a:rPr sz="1500">
                <a:solidFill>
                  <a:srgbClr val="FFFFFF"/>
                </a:solidFill>
                <a:latin typeface="Malgun Gothic"/>
              </a:rPr>
              <a:t>키프레임 애니메이션을 cursor 위치에서 보간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70AD47"/>
                </a:solidFill>
                <a:latin typeface="Malgun Gothic"/>
              </a:rPr>
              <a:t>구조: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[frame0]→[frame1]→...→[frameN]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cursor 0.0 ~ N-1 (실수)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70AD47"/>
                </a:solidFill>
                <a:latin typeface="Malgun Gothic"/>
              </a:rPr>
              <a:t>보간 수식: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lo = floor(cursor)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t  = cursor - lo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pose = lerp(frame[lo], frame[hi], t)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70AD47"/>
                </a:solidFill>
                <a:latin typeface="Malgun Gothic"/>
              </a:rPr>
              <a:t>특징: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Euler 최단 경로 보간 (_short)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Malgun Gothic"/>
              </a:rPr>
              <a:t>±180° 경계 점프 방지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algun Gothic"/>
              </a:rPr>
              <a:t>LDA 트리거 판별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0C4FF"/>
                </a:solidFill>
                <a:latin typeface="Malgun Gothic"/>
              </a:rPr>
              <a:t>현재 손 포즈가 '공격 제스처'인가를 수학적으로 판별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566160" cy="2011680"/>
          </a:xfrm>
          <a:prstGeom prst="rect">
            <a:avLst/>
          </a:prstGeom>
          <a:solidFill>
            <a:srgbClr val="181828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B9BD5"/>
                </a:solidFill>
                <a:latin typeface="Malgun Gothic"/>
              </a:rPr>
              <a:t>① 손 변화량 계산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3383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Δh = h_current − h_reference
(캘리브레이션 기준 포즈와의 차이)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488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CCCCC"/>
                </a:solidFill>
                <a:latin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1648" y="1371600"/>
            <a:ext cx="3566160" cy="2011680"/>
          </a:xfrm>
          <a:prstGeom prst="rect">
            <a:avLst/>
          </a:prstGeom>
          <a:solidFill>
            <a:srgbClr val="181828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33087" y="141732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0AD47"/>
                </a:solidFill>
                <a:latin typeface="Malgun Gothic"/>
              </a:rPr>
              <a:t>② LDA 스코어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1920240"/>
            <a:ext cx="3383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score = w_left · Δh_left[idx]
        + w_right · Δh_right[idx]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8" y="21488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CCCCC"/>
                </a:solidFill>
                <a:latin typeface="Malgun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8976" y="1371600"/>
            <a:ext cx="3566160" cy="2011680"/>
          </a:xfrm>
          <a:prstGeom prst="rect">
            <a:avLst/>
          </a:prstGeom>
          <a:solidFill>
            <a:srgbClr val="181828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0416" y="141732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000"/>
                </a:solidFill>
                <a:latin typeface="Malgun Gothic"/>
              </a:rPr>
              <a:t>③ 임계값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0416" y="1920240"/>
            <a:ext cx="3383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threshold = separation × 0.5 × k
score &gt; threshold  →  트리거!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66160"/>
            <a:ext cx="11640312" cy="1005840"/>
          </a:xfrm>
          <a:prstGeom prst="rect">
            <a:avLst/>
          </a:prstGeom>
          <a:solidFill>
            <a:srgbClr val="201800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11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000"/>
                </a:solidFill>
                <a:latin typeface="Malgun Gothic"/>
              </a:rPr>
              <a:t>직관적 의미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  <a:latin typeface="Malgun Gothic"/>
              </a:rPr>
              <a:t>"idle 포즈와 action 포즈를 가장 잘 구별하는 방향으로
 손 변화량을 투영했을 때의 크기"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스코어 분포: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029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Malgun Gothic"/>
              </a:rPr>
              <a:t>      0                  threshold               separation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303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Malgun Gothic"/>
              </a:rPr>
              <a:t>──────────────── idle ──────────┤──────── action ────────────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669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C000"/>
                </a:solidFill>
                <a:latin typeface="Malgun Gothic"/>
              </a:rPr>
              <a:t>k = ATTACK_THRESHOLD (1.0=기본 / 0.7=예민 / 1.5=둔감)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6080760"/>
            <a:ext cx="11640312" cy="594360"/>
          </a:xfrm>
          <a:prstGeom prst="rect">
            <a:avLst/>
          </a:prstGeom>
          <a:solidFill>
            <a:srgbClr val="181828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Malgun Gothic"/>
              </a:rPr>
              <a:t>wrist_rot 직접 체크 (Death 옵션):  |wrist_rot − ref| ≥ threshold  →  Death 트리거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algun Gothic"/>
              </a:rPr>
              <a:t>Alpha 커브 &amp; 블렌딩 수식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394960" cy="3657600"/>
          </a:xfrm>
          <a:prstGeom prst="rect">
            <a:avLst/>
          </a:prstGeom>
          <a:solidFill>
            <a:srgbClr val="0A1F38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B9BD5"/>
                </a:solidFill>
                <a:latin typeface="Malgun Gothic"/>
              </a:rPr>
              <a:t>Attack (Attack1 / Attack2)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000"/>
                </a:solidFill>
                <a:latin typeface="Malgun Gothic"/>
              </a:rPr>
              <a:t>α = sin( cursor/total × π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α
1.0 │     ╭───╮
     │    ╱     ╲
0.5 │   ╱       ╲
     │  ╱         ╲
0.0 ┼──╱─────────────╲──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Malgun Gothic"/>
              </a:rPr>
              <a:t>         0              1   (cursor/total)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  <a:latin typeface="Malgun Gothic"/>
              </a:rPr>
              <a:t>0→1→0  : 자연스럽게 진입 후 손 제어로 복귀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9672" y="1005840"/>
            <a:ext cx="5394960" cy="3657600"/>
          </a:xfrm>
          <a:prstGeom prst="rect">
            <a:avLst/>
          </a:prstGeom>
          <a:solidFill>
            <a:srgbClr val="0A280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0AD47"/>
                </a:solidFill>
                <a:latin typeface="Malgun Gothic"/>
              </a:rPr>
              <a:t>Death (특수 처리)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000"/>
                </a:solidFill>
                <a:latin typeface="Malgun Gothic"/>
              </a:rPr>
              <a:t>α = sin( min(cursor/total, 0.5) × π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201168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α
1.0 │     ╭──────────
     │    ╱
0.5 │   ╱
     │  ╱
0.0 ┼──╱────────────────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39776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Malgun Gothic"/>
              </a:rPr>
              <a:t>         0              1   (cursor/total)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  <a:latin typeface="Malgun Gothic"/>
              </a:rPr>
              <a:t>0→1→유지  : 한번 발동하면 되돌아오지 않음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846320"/>
            <a:ext cx="11640312" cy="1600200"/>
          </a:xfrm>
          <a:prstGeom prst="rect">
            <a:avLst/>
          </a:prstGeom>
          <a:solidFill>
            <a:srgbClr val="201800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892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000"/>
                </a:solidFill>
                <a:latin typeface="Malgun Gothic"/>
              </a:rPr>
              <a:t>최종 블렌딩 수식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joints_final[jid] = (1 - α) × joints_direct[jid]  +  α × joints_keyframe[jid]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Malgun Gothic"/>
              </a:rPr>
              <a:t>α = 0  손 제어 100%     α = 0.5  50:50 혼합     α = 1  애니메이션 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algun Gothic"/>
              </a:rPr>
              <a:t>상태머신 (State Machine)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474720" cy="1463040"/>
          </a:xfrm>
          <a:prstGeom prst="rect">
            <a:avLst/>
          </a:prstGeom>
          <a:solidFill>
            <a:srgbClr val="0A1F38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9BD5"/>
                </a:solidFill>
                <a:latin typeface="Malgun Gothic"/>
              </a:rPr>
              <a:t>CONTINUOUS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joints = joints_direct
α = 0  (손 제어 100%)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45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000"/>
                </a:solidFill>
                <a:latin typeface="Malgun Gothic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2344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000"/>
                </a:solidFill>
                <a:latin typeface="Malgun Gothic"/>
              </a:rPr>
              <a:t>LDA score &gt; threshold
또는 |Δwrist_rot| ≥ thr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097280"/>
            <a:ext cx="3474720" cy="1463040"/>
          </a:xfrm>
          <a:prstGeom prst="rect">
            <a:avLst/>
          </a:prstGeom>
          <a:solidFill>
            <a:srgbClr val="1A2A00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143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Malgun Gothic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5544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cursor 0 → N
α = sin curve
blend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645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CCCC"/>
                </a:solidFill>
                <a:latin typeface="Malgun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2344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Malgun Gothic"/>
              </a:rPr>
              <a:t>cursor ≥ N
(완료)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097280"/>
            <a:ext cx="2560320" cy="1463040"/>
          </a:xfrm>
          <a:prstGeom prst="rect">
            <a:avLst/>
          </a:prstGeom>
          <a:solidFill>
            <a:srgbClr val="281A0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143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CCCC"/>
                </a:solidFill>
                <a:latin typeface="Malgun Gothic"/>
              </a:rPr>
              <a:t>COOLDOWN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55448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45 frames
(~1.5초)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Malgun Gothic"/>
              </a:rPr>
              <a:t>↓ 종료 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Malgun Gothic"/>
              </a:rPr>
              <a:t>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200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Malgun Gothic"/>
              </a:rPr>
              <a:t>↑  cooldown == 0  →  CONTINUOUS 복귀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657600"/>
            <a:ext cx="3840480" cy="2651760"/>
          </a:xfrm>
          <a:prstGeom prst="rect">
            <a:avLst/>
          </a:prstGeom>
          <a:solidFill>
            <a:srgbClr val="181828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703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9BD5"/>
                </a:solidFill>
                <a:latin typeface="Malgun Gothic"/>
              </a:rPr>
              <a:t>CONTINUOUS 상세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16052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• 매 프레임 Direct 엔진으로 관절 계산
• LDA 스코어 감시 중
• cooldown &gt; 0이면 트리거 무시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657600"/>
            <a:ext cx="3840480" cy="2651760"/>
          </a:xfrm>
          <a:prstGeom prst="rect">
            <a:avLst/>
          </a:prstGeom>
          <a:solidFill>
            <a:srgbClr val="181828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703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0AD47"/>
                </a:solidFill>
                <a:latin typeface="Malgun Gothic"/>
              </a:rPr>
              <a:t>ACTION 상세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16052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• cursor += cursor_speed (기본 1.0/frame)
• get_sequential_pose(anim, cursor) 호출
• (1-α)×direct + α×keyframe 혼합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3657600"/>
            <a:ext cx="3840480" cy="2651760"/>
          </a:xfrm>
          <a:prstGeom prst="rect">
            <a:avLst/>
          </a:prstGeom>
          <a:solidFill>
            <a:srgbClr val="181828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3703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CCCC"/>
                </a:solidFill>
                <a:latin typeface="Malgun Gothic"/>
              </a:rPr>
              <a:t>COOLDOWN 상세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16052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• joints = joints_direct (손 제어)
• 45프레임 대기 후 CONTINUOUS 복귀
• 연속 재발동 방지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lgun Gothic"/>
              </a:rPr>
              <a:t>캘리브레이션 — 양쪽 엔진 동기화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C4FF"/>
                </a:solidFill>
                <a:latin typeface="Malgun Gothic"/>
              </a:rPr>
              <a:t>사용자마다 다른 손 크기와 자연 자세를 기준으로 보정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657600" cy="1645920"/>
          </a:xfrm>
          <a:prstGeom prst="rect">
            <a:avLst/>
          </a:prstGeom>
          <a:solidFill>
            <a:srgbClr val="181828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000"/>
                </a:solidFill>
                <a:latin typeface="Malgun Gothic"/>
              </a:rPr>
              <a:t>왜 필요한가?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• 손 크기/가동범위 개인차
• 자연 이완 자세 ≠ 완전 편 자세
• 기준 없이는 캘리브 포즈에서
  다리가 기울어짐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280160"/>
            <a:ext cx="7680960" cy="1645920"/>
          </a:xfrm>
          <a:prstGeom prst="rect">
            <a:avLst/>
          </a:prstGeom>
          <a:solidFill>
            <a:srgbClr val="181828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9BD5"/>
                </a:solidFill>
                <a:latin typeface="Malgun Gothic"/>
              </a:rPr>
              <a:t>수식 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73736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캘리브 전:  joint = (dof − h_ref_original) × scale
캘리브 후:  joint = (dof − h_ref_new) × scale
h_ref_new = 캘리브레이션 시점 실제 DOF 값
→ 캘리브 포즈에서 joint = 0 보장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11640312" cy="1554480"/>
          </a:xfrm>
          <a:prstGeom prst="rect">
            <a:avLst/>
          </a:prstGeom>
          <a:solidFill>
            <a:srgbClr val="380A0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666"/>
                </a:solidFill>
                <a:latin typeface="Malgun Gothic"/>
              </a:rPr>
              <a:t>수정된 버그: Direct 엔진 미캘리브레이션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CCC"/>
                </a:solidFill>
                <a:latin typeface="Malgun Gothic"/>
              </a:rPr>
              <a:t>이전:  engine.calibrate()만 호출  →  _engine_direct는 원본 h_ref 그대로
결과:  캘리브 포즈에서 joints_direct ≠ 0  →  idle 상태인데 다리가 기울어지는 버그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800600"/>
            <a:ext cx="11640312" cy="1554480"/>
          </a:xfrm>
          <a:prstGeom prst="rect">
            <a:avLst/>
          </a:prstGeom>
          <a:solidFill>
            <a:srgbClr val="0A2010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0AD47"/>
                </a:solidFill>
                <a:latin typeface="Malgun Gothic"/>
              </a:rPr>
              <a:t>수정 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FFC0"/>
                </a:solidFill>
                <a:latin typeface="Malgun Gothic"/>
              </a:rPr>
              <a:t>engine.calibrate(hands_angles)           # KeyframeMappingEngine
if args.mapping == 'blend':
    _engine_direct.calibrate(hands_angles)   # MappingEngine  ← 추가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algun Gothic"/>
              </a:rPr>
              <a:t>핵심 공식 3가지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0C4FF"/>
                </a:solidFill>
                <a:latin typeface="Malgun Gothic"/>
              </a:rPr>
              <a:t>Blend 모드의 모든 수식을 한 페이지로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1640312" cy="1554480"/>
          </a:xfrm>
          <a:prstGeom prst="rect">
            <a:avLst/>
          </a:prstGeom>
          <a:solidFill>
            <a:srgbClr val="181828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B9BD5"/>
                </a:solidFill>
                <a:latin typeface="Malgun Gothic"/>
              </a:rPr>
              <a:t>① Direct 변환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joint[jid]  =  (hand_dof[assigned_dof]  −  h_ref[assigned_dof])  ×  scale_factor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Malgun Gothic"/>
              </a:rPr>
              <a:t>손 DOF의 캘리브레이션 기준 대비 변화량을 scale로 증폭 → 관절 각도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08960"/>
            <a:ext cx="11640312" cy="1554480"/>
          </a:xfrm>
          <a:prstGeom prst="rect">
            <a:avLst/>
          </a:prstGeom>
          <a:solidFill>
            <a:srgbClr val="181828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546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000"/>
                </a:solidFill>
                <a:latin typeface="Malgun Gothic"/>
              </a:rPr>
              <a:t>② LDA 트리거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score = w_left · Δh_left[idx]  +  w_right · Δh_right[idx]
trigger if  score  &gt;  separation × 0.5 ×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Malgun Gothic"/>
              </a:rPr>
              <a:t>손 변화량 벡터를 LDA 가중치로 투영 → idle/action 구분 선 초과 시 발동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846320"/>
            <a:ext cx="11640312" cy="1554480"/>
          </a:xfrm>
          <a:prstGeom prst="rect">
            <a:avLst/>
          </a:prstGeom>
          <a:solidFill>
            <a:srgbClr val="181828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92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0AD47"/>
                </a:solidFill>
                <a:latin typeface="Malgun Gothic"/>
              </a:rPr>
              <a:t>③ Alpha 블렌딩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joints_final  =  (1 − α) × joints_direct  +  α × joints_keyframe
α = sin(cursor/total × π)  또는  sin(min(t, 0.5) × 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Malgun Gothic"/>
              </a:rPr>
              <a:t>두 엔진의 결과를 alpha로 선형 혼합 → 자연스러운 진입/복귀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Malgun Gothic"/>
              </a:rPr>
              <a:t>Blend Mode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606040"/>
            <a:ext cx="3959352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880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9BD5"/>
                </a:solidFill>
                <a:latin typeface="Malgun Gothic"/>
              </a:rPr>
              <a:t>■  Direct Engine: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8803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매 프레임 손 DOF → 관절 즉시 변환 (반응성)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4930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0AD47"/>
                </a:solidFill>
                <a:latin typeface="Malgun Gothic"/>
              </a:rPr>
              <a:t>■  Sequential Engine: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49300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cursor 기반 키프레임 선형 보간 (부드러운 액션)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10565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0"/>
                </a:solidFill>
                <a:latin typeface="Malgun Gothic"/>
              </a:rPr>
              <a:t>■  LDA Trigger: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10565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손 변화량 투영 스코어로 action 자동 감지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71830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■  Alpha Blending: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718304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두 엔진을 sin 커브로 부드럽게 혼합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3309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0C4FF"/>
                </a:solidFill>
                <a:latin typeface="Malgun Gothic"/>
              </a:rPr>
              <a:t>■  Calibration: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33095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양쪽 엔진 동시 보정 → idle = 기본 자세 보장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Malgun Gothic"/>
              </a:rPr>
              <a:t>HandAnimal Project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